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Ритейлер охватывает 78 регионов с 2400 точками продаж. Ежедневная нагрузка — 12 млн транзакций на оборот 680 млрд руб. Основная проблема — 14 разрозненных систем, вызывающих критические задержки в обработке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используем мощную инфраструктуру Kubernetes на 186 узлах и Kafka для потока 850 000 событий. Это поддерживает ежедневный рост данных на 2,8 ТБ с помощью 47 коннекторов.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 9 месяцев зафиксирован значительный рост KPI. Точность прогнозирования спроса выросла с 72% до 91,3%, а уровень дефицита товаров сократился более чем вдвое. Кроме того, процесс подготовки отчётности стал значительно быстрее благодаря внедрению инк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Проект требует инвестиций в размере 1,86 млрд рублей. Бюджет распределен между инфраструктурой, разработкой ПО и обучением персонала. Благодаря команде из 84 специалистов, проект демонстрирует ROI 340% за 9 месяцев.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406400"/>
            <a:ext cx="12573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FFFFFF"/>
                </a:solidFill>
                <a:latin typeface="Montserrat"/>
              </a:defRPr>
            </a:pPr>
            <a:r>
              <a:rPr i="0" sz="1400" b="1">
                <a:solidFill>
                  <a:srgbClr val="FFFFFF"/>
                </a:solidFill>
                <a:latin typeface="Montserrat"/>
              </a:rPr>
              <a:t>РетейлГрупп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44700" y="406400"/>
            <a:ext cx="10287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FFFFFF"/>
                </a:solidFill>
                <a:latin typeface="Montserrat"/>
              </a:defRPr>
            </a:pPr>
            <a:r>
              <a:rPr i="0" sz="1400" b="1">
                <a:solidFill>
                  <a:srgbClr val="FFFFFF"/>
                </a:solidFill>
                <a:latin typeface="Montserrat"/>
              </a:rPr>
              <a:t>2026-02-25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968500"/>
            <a:ext cx="65278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4800" b="1">
                <a:solidFill>
                  <a:srgbClr val="FFFFFF"/>
                </a:solidFill>
                <a:latin typeface="Montserrat"/>
              </a:defRPr>
            </a:pPr>
            <a:r>
              <a:rPr i="0" sz="4800" b="1">
                <a:solidFill>
                  <a:srgbClr val="FFFFFF"/>
                </a:solidFill>
                <a:latin typeface="Montserrat"/>
              </a:rPr>
              <a:t>Контекст: Масштабы 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3898900"/>
            <a:ext cx="6527800" cy="1854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3000"/>
              </a:lnSpc>
              <a:defRPr i="0" sz="1800" b="0">
                <a:solidFill>
                  <a:srgbClr val="FFFFFF"/>
                </a:solidFill>
                <a:latin typeface="Montserrat"/>
              </a:defRPr>
            </a:pPr>
            <a:r>
              <a:rPr i="0" sz="1800" b="0">
                <a:solidFill>
                  <a:srgbClr val="FFFFFF"/>
                </a:solidFill>
                <a:latin typeface="Montserrat"/>
              </a:rPr>
              <a:t>Бюрократическая структура: Федеральный ритейлер, </a:t>
            </a:r>
            <a:r>
              <a:rPr i="0" sz="1800" b="1">
                <a:solidFill>
                  <a:srgbClr val="FFFFFF"/>
                </a:solidFill>
                <a:latin typeface="Montserrat"/>
              </a:rPr>
              <a:t>2 400 магазинов</a:t>
            </a:r>
            <a:r>
              <a:rPr i="0" sz="1800" b="0">
                <a:solidFill>
                  <a:srgbClr val="FFFFFF"/>
                </a:solidFill>
                <a:latin typeface="Montserrat"/>
              </a:rPr>
              <a:t>. Финансовые показатели: Оборот </a:t>
            </a:r>
            <a:r>
              <a:rPr i="0" sz="1800" b="1">
                <a:solidFill>
                  <a:srgbClr val="FFFFFF"/>
                </a:solidFill>
                <a:latin typeface="Montserrat"/>
              </a:rPr>
              <a:t>680 млрд руб./год</a:t>
            </a:r>
            <a:r>
              <a:rPr i="0" sz="1800" b="0">
                <a:solidFill>
                  <a:srgbClr val="FFFFFF"/>
                </a:solidFill>
                <a:latin typeface="Montserrat"/>
              </a:rPr>
              <a:t>, </a:t>
            </a:r>
            <a:r>
              <a:rPr i="0" sz="1800" b="1">
                <a:solidFill>
                  <a:srgbClr val="FFFFFF"/>
                </a:solidFill>
                <a:latin typeface="Montserrat"/>
              </a:rPr>
              <a:t>12 млн</a:t>
            </a:r>
            <a:r>
              <a:rPr i="0" sz="1800" b="0">
                <a:solidFill>
                  <a:srgbClr val="FFFFFF"/>
                </a:solidFill>
                <a:latin typeface="Montserrat"/>
              </a:rPr>
              <a:t> транзакций ежедневно. Технологические проблемы: Использование **14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40800" y="1955800"/>
            <a:ext cx="65024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5000"/>
            </a:srgbClr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48800" y="2209800"/>
            <a:ext cx="53086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FFFFFF"/>
                </a:solidFill>
                <a:latin typeface="Montserrat"/>
              </a:defRPr>
            </a:pPr>
            <a:r>
              <a:rPr i="0" sz="2000" b="1">
                <a:solidFill>
                  <a:srgbClr val="FFFFFF"/>
                </a:solidFill>
                <a:latin typeface="Montserrat"/>
              </a:rPr>
              <a:t>Структура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48800" y="2616200"/>
            <a:ext cx="53086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0">
                <a:solidFill>
                  <a:srgbClr val="DBEAFE"/>
                </a:solidFill>
                <a:latin typeface="Montserrat"/>
              </a:defRPr>
            </a:pPr>
            <a:r>
              <a:rPr i="0" sz="1400" b="0">
                <a:solidFill>
                  <a:srgbClr val="DBEAFE"/>
                </a:solidFill>
                <a:latin typeface="Montserrat"/>
              </a:rPr>
              <a:t>Федеральный ритейлер • 2 400 магазинов в 78 регионах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40800" y="3568700"/>
            <a:ext cx="65024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5000"/>
            </a:srgbClr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48800" y="3822700"/>
            <a:ext cx="5537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FFFFFF"/>
                </a:solidFill>
                <a:latin typeface="Montserrat"/>
              </a:defRPr>
            </a:pPr>
            <a:r>
              <a:rPr i="0" sz="2000" b="1">
                <a:solidFill>
                  <a:srgbClr val="FFFFFF"/>
                </a:solidFill>
                <a:latin typeface="Montserrat"/>
              </a:rPr>
              <a:t>Показатели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8800" y="4229100"/>
            <a:ext cx="55372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0">
                <a:solidFill>
                  <a:srgbClr val="DBEAFE"/>
                </a:solidFill>
                <a:latin typeface="Montserrat"/>
              </a:defRPr>
            </a:pPr>
            <a:r>
              <a:rPr i="0" sz="1400" b="0">
                <a:solidFill>
                  <a:srgbClr val="DBEAFE"/>
                </a:solidFill>
                <a:latin typeface="Montserrat"/>
              </a:rPr>
              <a:t>Оборот </a:t>
            </a:r>
            <a:r>
              <a:rPr i="0" sz="1400" b="1">
                <a:solidFill>
                  <a:srgbClr val="DBEAFE"/>
                </a:solidFill>
                <a:latin typeface="Montserrat"/>
              </a:rPr>
              <a:t>680 млрд руб./год</a:t>
            </a:r>
            <a:r>
              <a:rPr i="0" sz="1400" b="0">
                <a:solidFill>
                  <a:srgbClr val="DBEAFE"/>
                </a:solidFill>
                <a:latin typeface="Montserrat"/>
              </a:rPr>
              <a:t> • </a:t>
            </a:r>
            <a:r>
              <a:rPr i="0" sz="1400" b="1">
                <a:solidFill>
                  <a:srgbClr val="DBEAFE"/>
                </a:solidFill>
                <a:latin typeface="Montserrat"/>
              </a:rPr>
              <a:t>12 млн</a:t>
            </a:r>
            <a:r>
              <a:rPr i="0" sz="1400" b="0">
                <a:solidFill>
                  <a:srgbClr val="DBEAFE"/>
                </a:solidFill>
                <a:latin typeface="Montserrat"/>
              </a:rPr>
              <a:t> транзакций ежедневно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40800" y="5168900"/>
            <a:ext cx="65024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5000"/>
            </a:srgbClr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48800" y="5422900"/>
            <a:ext cx="5461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FFFFFF"/>
                </a:solidFill>
                <a:latin typeface="Montserrat"/>
              </a:defRPr>
            </a:pPr>
            <a:r>
              <a:rPr i="0" sz="2000" b="1">
                <a:solidFill>
                  <a:srgbClr val="FFFFFF"/>
                </a:solidFill>
                <a:latin typeface="Montserrat"/>
              </a:rPr>
              <a:t>Проблематика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48800" y="5829300"/>
            <a:ext cx="54610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0">
                <a:solidFill>
                  <a:srgbClr val="DBEAFE"/>
                </a:solidFill>
                <a:latin typeface="Montserrat"/>
              </a:defRPr>
            </a:pPr>
            <a:r>
              <a:rPr i="0" sz="1400" b="0">
                <a:solidFill>
                  <a:srgbClr val="DBEAFE"/>
                </a:solidFill>
                <a:latin typeface="Montserrat"/>
              </a:rPr>
              <a:t>Использование </a:t>
            </a:r>
            <a:r>
              <a:rPr i="0" sz="1400" b="1">
                <a:solidFill>
                  <a:srgbClr val="DBEAFE"/>
                </a:solidFill>
                <a:latin typeface="Montserrat"/>
              </a:rPr>
              <a:t>14 разрозненных аналитических систем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0" y="9093200"/>
            <a:ext cx="16256000" cy="508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431800"/>
            <a:ext cx="965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DataPulse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19300" y="431800"/>
            <a:ext cx="10287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2026-02-25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927100"/>
            <a:ext cx="72136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6000" b="1">
                <a:solidFill>
                  <a:srgbClr val="2563EB"/>
                </a:solidFill>
                <a:latin typeface="Montserrat"/>
              </a:defRPr>
            </a:pPr>
            <a:r>
              <a:rPr i="0" sz="6000" b="1">
                <a:solidFill>
                  <a:srgbClr val="2563EB"/>
                </a:solidFill>
                <a:latin typeface="Montserrat"/>
              </a:rPr>
              <a:t>Архитектура DataPulse: 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2766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1800" b="1">
                <a:solidFill>
                  <a:srgbClr val="2563EB"/>
                </a:solidFill>
                <a:latin typeface="Montserrat"/>
              </a:defRPr>
            </a:pPr>
            <a:r>
              <a:rPr i="0" sz="1800" b="1">
                <a:solidFill>
                  <a:srgbClr val="2563EB"/>
                </a:solidFill>
                <a:latin typeface="Montserrat"/>
              </a:rPr>
              <a:t>Data Processing: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5511800"/>
            <a:ext cx="17526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1800" b="1">
                <a:solidFill>
                  <a:srgbClr val="2563EB"/>
                </a:solidFill>
                <a:latin typeface="Montserrat"/>
              </a:defRPr>
            </a:pPr>
            <a:r>
              <a:rPr i="0" sz="1800" b="1">
                <a:solidFill>
                  <a:srgbClr val="2563EB"/>
                </a:solidFill>
                <a:latin typeface="Montserrat"/>
              </a:rPr>
              <a:t>Infrastructure: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3136900"/>
            <a:ext cx="3492500" cy="2057400"/>
          </a:xfrm>
          <a:prstGeom prst="roundRect">
            <a:avLst>
              <a:gd name="adj" fmla="val 4938"/>
            </a:avLst>
          </a:prstGeom>
          <a:solidFill>
            <a:srgbClr val="F5F8FE"/>
          </a:solidFill>
          <a:ln>
            <a:noFill/>
          </a:ln>
          <a:effectLst>
            <a:outerShdw blurRad="25400" dir="5400000" dist="127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0" y="3441700"/>
            <a:ext cx="3213100" cy="71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800" b="1">
                <a:solidFill>
                  <a:srgbClr val="2563EB"/>
                </a:solidFill>
                <a:latin typeface="Montserrat"/>
              </a:defRPr>
            </a:pPr>
            <a:r>
              <a:rPr i="0" sz="1800" b="1">
                <a:solidFill>
                  <a:srgbClr val="2563EB"/>
                </a:solidFill>
                <a:latin typeface="Montserrat"/>
              </a:rPr>
              <a:t>Обработка данных (Data Proc)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79000" y="4203700"/>
            <a:ext cx="406400" cy="50800"/>
          </a:xfrm>
          <a:prstGeom prst="roundRect">
            <a:avLst>
              <a:gd name="adj" fmla="val 200000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925300" y="3136900"/>
            <a:ext cx="3492500" cy="2057400"/>
          </a:xfrm>
          <a:prstGeom prst="roundRect">
            <a:avLst>
              <a:gd name="adj" fmla="val 4938"/>
            </a:avLst>
          </a:prstGeom>
          <a:solidFill>
            <a:srgbClr val="F5F8FE"/>
          </a:solidFill>
          <a:ln>
            <a:noFill/>
          </a:ln>
          <a:effectLst>
            <a:outerShdw blurRad="25400" dir="5400000" dist="127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268200" y="3441700"/>
            <a:ext cx="28321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800" b="1">
                <a:solidFill>
                  <a:srgbClr val="2563EB"/>
                </a:solidFill>
                <a:latin typeface="Montserrat"/>
              </a:defRPr>
            </a:pPr>
            <a:r>
              <a:rPr i="0" sz="1800" b="1">
                <a:solidFill>
                  <a:srgbClr val="2563EB"/>
                </a:solidFill>
                <a:latin typeface="Montserrat"/>
              </a:rPr>
              <a:t>Инфраструктура (Infra)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474700" y="3848100"/>
            <a:ext cx="406400" cy="50800"/>
          </a:xfrm>
          <a:prstGeom prst="roundRect">
            <a:avLst>
              <a:gd name="adj" fmla="val 200000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400" y="9067800"/>
            <a:ext cx="16205200" cy="50800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406400"/>
            <a:ext cx="1117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Corporation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95500" y="406400"/>
            <a:ext cx="9779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25.02.2026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533400"/>
            <a:ext cx="6032500" cy="38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defRPr i="0" sz="6000" b="1">
                <a:solidFill>
                  <a:srgbClr val="2563EB"/>
                </a:solidFill>
                <a:latin typeface="Montserrat"/>
              </a:defRPr>
            </a:pPr>
            <a:r>
              <a:rPr i="0" sz="6000" b="1">
                <a:solidFill>
                  <a:srgbClr val="2563EB"/>
                </a:solidFill>
                <a:latin typeface="Montserrat"/>
              </a:rPr>
              <a:t>Результаты за 9 месяцев: Значимый рост KPI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4546600"/>
            <a:ext cx="6007100" cy="3657600"/>
          </a:xfrm>
          <a:prstGeom prst="roundRect">
            <a:avLst>
              <a:gd name="adj" fmla="val 2777"/>
            </a:avLst>
          </a:prstGeom>
          <a:solidFill>
            <a:srgbClr val="FFFFFF"/>
          </a:solidFill>
          <a:ln>
            <a:noFill/>
          </a:ln>
          <a:effectLst>
            <a:outerShdw blurRad="25400" dir="5400000" dist="127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6" name="Picture 5" descr="2013be97-9e27-4e63-b339-0f5e650ee1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4749800"/>
            <a:ext cx="5600700" cy="3251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49700" y="7302500"/>
            <a:ext cx="5207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7137400"/>
            <a:ext cx="1651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8600" y="6527800"/>
            <a:ext cx="2667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5918200"/>
            <a:ext cx="2794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8600" y="5308600"/>
            <a:ext cx="2667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4300" y="4787900"/>
            <a:ext cx="381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100</a:t>
            </a:r>
          </a:p>
        </p:txBody>
      </p:sp>
      <p:pic>
        <p:nvPicPr>
          <p:cNvPr id="13" name="Picture 12" descr="355d770e-a77a-4203-bf4a-00bc4441aa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5200" y="7708900"/>
            <a:ext cx="177800" cy="177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463800" y="7658100"/>
            <a:ext cx="9652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600" b="1">
                <a:solidFill>
                  <a:srgbClr val="1E4CD9"/>
                </a:solidFill>
                <a:latin typeface="Montserrat"/>
              </a:defRPr>
            </a:pPr>
            <a:r>
              <a:rPr i="0" sz="1600" b="1">
                <a:solidFill>
                  <a:srgbClr val="1E4CD9"/>
                </a:solidFill>
                <a:latin typeface="Montserrat"/>
              </a:rPr>
              <a:t>Indicator</a:t>
            </a:r>
          </a:p>
        </p:txBody>
      </p:sp>
      <p:pic>
        <p:nvPicPr>
          <p:cNvPr id="15" name="Picture 14" descr="26d6adad-793c-48f1-94d3-121dd98da6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3300" y="7708900"/>
            <a:ext cx="177800" cy="177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771900" y="7658100"/>
            <a:ext cx="6096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600" b="1">
                <a:solidFill>
                  <a:srgbClr val="3B82F6"/>
                </a:solidFill>
                <a:latin typeface="Montserrat"/>
              </a:defRPr>
            </a:pPr>
            <a:r>
              <a:rPr i="0" sz="1600" b="1">
                <a:solidFill>
                  <a:srgbClr val="3B82F6"/>
                </a:solidFill>
                <a:latin typeface="Montserrat"/>
              </a:rPr>
              <a:t>Value</a:t>
            </a:r>
          </a:p>
        </p:txBody>
      </p:sp>
      <p:pic>
        <p:nvPicPr>
          <p:cNvPr id="17" name="Picture 16" descr="ca08b305-46c1-4f79-b169-22b8c0b7e0f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3100" y="7708900"/>
            <a:ext cx="177800" cy="177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711700" y="7658100"/>
            <a:ext cx="5842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600" b="1">
                <a:solidFill>
                  <a:srgbClr val="F59E0B"/>
                </a:solidFill>
                <a:latin typeface="Montserrat"/>
              </a:defRPr>
            </a:pPr>
            <a:r>
              <a:rPr i="0" sz="1600" b="1">
                <a:solidFill>
                  <a:srgbClr val="F59E0B"/>
                </a:solidFill>
                <a:latin typeface="Montserrat"/>
              </a:rPr>
              <a:t>Delta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41500" y="4876800"/>
            <a:ext cx="254000" cy="254000"/>
          </a:xfrm>
          <a:prstGeom prst="roundRect">
            <a:avLst>
              <a:gd name="adj" fmla="val 40000"/>
            </a:avLst>
          </a:prstGeom>
          <a:solidFill>
            <a:srgbClr val="1E4CD9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35900" y="2184400"/>
            <a:ext cx="20955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1600" b="1">
                <a:solidFill>
                  <a:srgbClr val="2563EB"/>
                </a:solidFill>
                <a:latin typeface="Montserrat"/>
              </a:defRPr>
            </a:pPr>
            <a:r>
              <a:rPr i="0" sz="1600" b="1">
                <a:solidFill>
                  <a:srgbClr val="2563EB"/>
                </a:solidFill>
                <a:latin typeface="Montserrat"/>
              </a:rPr>
              <a:t>Прогнозирование: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35900" y="3505200"/>
            <a:ext cx="18288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1600" b="1">
                <a:solidFill>
                  <a:srgbClr val="2563EB"/>
                </a:solidFill>
                <a:latin typeface="Montserrat"/>
              </a:defRPr>
            </a:pPr>
            <a:r>
              <a:rPr i="0" sz="1600" b="1">
                <a:solidFill>
                  <a:srgbClr val="2563EB"/>
                </a:solidFill>
                <a:latin typeface="Montserrat"/>
              </a:rPr>
              <a:t>Эффективность: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35900" y="4838700"/>
            <a:ext cx="2336800" cy="2171700"/>
          </a:xfrm>
          <a:prstGeom prst="roundRect">
            <a:avLst>
              <a:gd name="adj" fmla="val 4678"/>
            </a:avLst>
          </a:prstGeom>
          <a:solidFill>
            <a:srgbClr val="F5F8FF"/>
          </a:solidFill>
          <a:ln>
            <a:noFill/>
          </a:ln>
          <a:effectLst>
            <a:outerShdw blurRad="25400" dir="5400000" dist="127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89900" y="5041900"/>
            <a:ext cx="1016000" cy="304800"/>
          </a:xfrm>
          <a:prstGeom prst="roundRect">
            <a:avLst>
              <a:gd name="adj" fmla="val 16666"/>
            </a:avLst>
          </a:prstGeom>
          <a:solidFill>
            <a:srgbClr val="1E4CD9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2300" y="5092700"/>
            <a:ext cx="7366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FFFFFF"/>
                </a:solidFill>
                <a:latin typeface="Montserrat"/>
              </a:defRPr>
            </a:pPr>
            <a:r>
              <a:rPr i="0" sz="1200" b="1">
                <a:solidFill>
                  <a:srgbClr val="FFFFFF"/>
                </a:solidFill>
                <a:latin typeface="Montserrat"/>
              </a:rPr>
              <a:t>Indicator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9900" y="5448300"/>
            <a:ext cx="1854200" cy="812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400" b="1">
                <a:solidFill>
                  <a:srgbClr val="1E4CD9"/>
                </a:solidFill>
                <a:latin typeface="Montserrat"/>
              </a:defRPr>
            </a:pPr>
            <a:r>
              <a:rPr i="0" sz="2400" b="1">
                <a:solidFill>
                  <a:srgbClr val="1E4CD9"/>
                </a:solidFill>
                <a:latin typeface="Montserrat"/>
              </a:rPr>
              <a:t>+0% growth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9900" y="6311900"/>
            <a:ext cx="18542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defRPr i="0" sz="1400" b="0">
                <a:solidFill>
                  <a:srgbClr val="374151"/>
                </a:solidFill>
                <a:latin typeface="Montserrat"/>
              </a:defRPr>
            </a:pPr>
            <a:r>
              <a:rPr i="0" sz="1400" b="0">
                <a:solidFill>
                  <a:srgbClr val="374151"/>
                </a:solidFill>
                <a:latin typeface="Montserrat"/>
              </a:rPr>
              <a:t>Indicator growth over the period.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477500" y="4838700"/>
            <a:ext cx="2336800" cy="2171700"/>
          </a:xfrm>
          <a:prstGeom prst="roundRect">
            <a:avLst>
              <a:gd name="adj" fmla="val 4678"/>
            </a:avLst>
          </a:prstGeom>
          <a:solidFill>
            <a:srgbClr val="F5F8FF"/>
          </a:solidFill>
          <a:ln>
            <a:noFill/>
          </a:ln>
          <a:effectLst>
            <a:outerShdw blurRad="25400" dir="5400000" dist="127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731500" y="5041900"/>
            <a:ext cx="736600" cy="304800"/>
          </a:xfrm>
          <a:prstGeom prst="roundRect">
            <a:avLst>
              <a:gd name="adj" fmla="val 16666"/>
            </a:avLst>
          </a:prstGeom>
          <a:solidFill>
            <a:srgbClr val="1E4CD9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83900" y="5092700"/>
            <a:ext cx="4572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FFFFFF"/>
                </a:solidFill>
                <a:latin typeface="Montserrat"/>
              </a:defRPr>
            </a:pPr>
            <a:r>
              <a:rPr i="0" sz="1200" b="1">
                <a:solidFill>
                  <a:srgbClr val="FFFFFF"/>
                </a:solidFill>
                <a:latin typeface="Montserrat"/>
              </a:rPr>
              <a:t>Value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31500" y="5448300"/>
            <a:ext cx="1854200" cy="812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400" b="1">
                <a:solidFill>
                  <a:srgbClr val="1E4CD9"/>
                </a:solidFill>
                <a:latin typeface="Montserrat"/>
              </a:defRPr>
            </a:pPr>
            <a:r>
              <a:rPr i="0" sz="2400" b="1">
                <a:solidFill>
                  <a:srgbClr val="1E4CD9"/>
                </a:solidFill>
                <a:latin typeface="Montserrat"/>
              </a:rPr>
              <a:t>+0% growth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31500" y="6311900"/>
            <a:ext cx="18542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defRPr i="0" sz="1400" b="0">
                <a:solidFill>
                  <a:srgbClr val="374151"/>
                </a:solidFill>
                <a:latin typeface="Montserrat"/>
              </a:defRPr>
            </a:pPr>
            <a:r>
              <a:rPr i="0" sz="1400" b="0">
                <a:solidFill>
                  <a:srgbClr val="374151"/>
                </a:solidFill>
                <a:latin typeface="Montserrat"/>
              </a:rPr>
              <a:t>Value growth over the period.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106400" y="4838700"/>
            <a:ext cx="2336800" cy="2171700"/>
          </a:xfrm>
          <a:prstGeom prst="roundRect">
            <a:avLst>
              <a:gd name="adj" fmla="val 4678"/>
            </a:avLst>
          </a:prstGeom>
          <a:solidFill>
            <a:srgbClr val="F5F8FF"/>
          </a:solidFill>
          <a:ln>
            <a:noFill/>
          </a:ln>
          <a:effectLst>
            <a:outerShdw blurRad="25400" dir="5400000" dist="127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360400" y="5041900"/>
            <a:ext cx="723900" cy="304800"/>
          </a:xfrm>
          <a:prstGeom prst="roundRect">
            <a:avLst>
              <a:gd name="adj" fmla="val 16666"/>
            </a:avLst>
          </a:prstGeom>
          <a:solidFill>
            <a:srgbClr val="1E4CD9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512800" y="5092700"/>
            <a:ext cx="4445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FFFFFF"/>
                </a:solidFill>
                <a:latin typeface="Montserrat"/>
              </a:defRPr>
            </a:pPr>
            <a:r>
              <a:rPr i="0" sz="1200" b="1">
                <a:solidFill>
                  <a:srgbClr val="FFFFFF"/>
                </a:solidFill>
                <a:latin typeface="Montserrat"/>
              </a:rPr>
              <a:t>Delta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60400" y="5448300"/>
            <a:ext cx="1854200" cy="812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400" b="1">
                <a:solidFill>
                  <a:srgbClr val="1E4CD9"/>
                </a:solidFill>
                <a:latin typeface="Montserrat"/>
              </a:defRPr>
            </a:pPr>
            <a:r>
              <a:rPr i="0" sz="2400" b="1">
                <a:solidFill>
                  <a:srgbClr val="1E4CD9"/>
                </a:solidFill>
                <a:latin typeface="Montserrat"/>
              </a:rPr>
              <a:t>+0% growth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360400" y="6311900"/>
            <a:ext cx="18542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defRPr i="0" sz="1400" b="0">
                <a:solidFill>
                  <a:srgbClr val="374151"/>
                </a:solidFill>
                <a:latin typeface="Montserrat"/>
              </a:defRPr>
            </a:pPr>
            <a:r>
              <a:rPr i="0" sz="1400" b="0">
                <a:solidFill>
                  <a:srgbClr val="374151"/>
                </a:solidFill>
                <a:latin typeface="Montserrat"/>
              </a:rPr>
              <a:t>Delta growth over the period.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0" y="9093200"/>
            <a:ext cx="16256000" cy="50800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406400"/>
            <a:ext cx="6604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Globex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44700" y="406400"/>
            <a:ext cx="10287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2026-02-25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485900"/>
            <a:ext cx="60325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6000" b="1">
                <a:solidFill>
                  <a:srgbClr val="2563EB"/>
                </a:solidFill>
                <a:latin typeface="Montserrat"/>
              </a:defRPr>
            </a:pPr>
            <a:r>
              <a:rPr i="0" sz="6000" b="1">
                <a:solidFill>
                  <a:srgbClr val="2563EB"/>
                </a:solidFill>
                <a:latin typeface="Montserrat"/>
              </a:rPr>
              <a:t>Инвестиции и ресурсы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3594100"/>
            <a:ext cx="6007100" cy="3657600"/>
          </a:xfrm>
          <a:prstGeom prst="roundRect">
            <a:avLst>
              <a:gd name="adj" fmla="val 2777"/>
            </a:avLst>
          </a:prstGeom>
          <a:solidFill>
            <a:srgbClr val="FFFFFF"/>
          </a:solidFill>
          <a:ln>
            <a:noFill/>
          </a:ln>
          <a:effectLst>
            <a:outerShdw blurRad="25400" dir="5400000" dist="127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6" name="Picture 5" descr="75a63973-0730-4e5e-889d-ccab4bfb7b7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97300"/>
            <a:ext cx="5600700" cy="3251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57300" y="6159500"/>
            <a:ext cx="17272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Общие затраты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14700" y="6159500"/>
            <a:ext cx="1270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Разработка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2400" y="6159500"/>
            <a:ext cx="1117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Обучение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9700" y="5994400"/>
            <a:ext cx="1651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5575300"/>
            <a:ext cx="2794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0000" y="5168900"/>
            <a:ext cx="3048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2700" y="4749800"/>
            <a:ext cx="2921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2700" y="4343400"/>
            <a:ext cx="2921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3800" y="3937000"/>
            <a:ext cx="381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100</a:t>
            </a:r>
          </a:p>
        </p:txBody>
      </p:sp>
      <p:pic>
        <p:nvPicPr>
          <p:cNvPr id="16" name="Picture 15" descr="26d6adad-793c-48f1-94d3-121dd98da6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6565900"/>
            <a:ext cx="177800" cy="177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403600" y="6515100"/>
            <a:ext cx="6985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600" b="1">
                <a:solidFill>
                  <a:srgbClr val="3B82F6"/>
                </a:solidFill>
                <a:latin typeface="Montserrat"/>
              </a:defRPr>
            </a:pPr>
            <a:r>
              <a:rPr i="0" sz="1600" b="1">
                <a:solidFill>
                  <a:srgbClr val="3B82F6"/>
                </a:solidFill>
                <a:latin typeface="Montserrat"/>
              </a:rPr>
              <a:t>CAC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51000" y="4051300"/>
            <a:ext cx="254000" cy="254000"/>
          </a:xfrm>
          <a:prstGeom prst="roundRect">
            <a:avLst>
              <a:gd name="adj" fmla="val 40000"/>
            </a:avLst>
          </a:prstGeom>
          <a:solidFill>
            <a:srgbClr val="1E4CD9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35900" y="3759200"/>
            <a:ext cx="7340600" cy="1320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3000"/>
              </a:lnSpc>
              <a:defRPr i="0" sz="1600" b="0">
                <a:solidFill>
                  <a:srgbClr val="2563EB"/>
                </a:solidFill>
                <a:latin typeface="Montserrat"/>
              </a:defRPr>
            </a:pPr>
            <a:r>
              <a:rPr i="0" sz="1600" b="0">
                <a:solidFill>
                  <a:srgbClr val="2563EB"/>
                </a:solidFill>
                <a:latin typeface="Montserrat"/>
              </a:rPr>
              <a:t>Общий бюджет проекта составляет 1,86 млрд рублей. Основные расходы направлены на инфраструктуру и разработку ПО. Команда из 84 специалистов обеспечивает эффективность, достигая ROI 340% за 9 месяцев.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0" y="9093200"/>
            <a:ext cx="16256000" cy="50800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