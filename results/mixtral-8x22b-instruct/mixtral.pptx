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Компания «РетейлГрупп» является крупным федеральным ритейлером с обширной сетью магазинов и значительным объемом транзакций. Однако использование 14 разрозненных аналитических систем с задержкой синхронизации до 48 часов приводило к существенным потерям выручки из-за неоптимального управления.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Платформа использует микросервисную архитектуру для эффективного сбора и обработки данных. Система обрабатывает до 850 000 событий в секунду с помощью Apache Kafka и управляет 320 DAG через Apache Airflow. В системе интегрировано 47 внутренних коннекторов, обеспечивая ежедневный прирост данных в размере 2,8 ТБ. Для хранения данных используется MinIO Data Lake с уровнями Bronze, Silver и Gold, а для реального времени аналитики применяется Apache Druid с задержкой менее 200 мс.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этом слайде представлены наши передовые ML-модели, используемые для прогнозирования спроса, оптимизации цен и рекомендаций. Мы используем LightGBM и TFT для прогнозирования спроса с точностью MAPE 4,7%. Для оптимизации цен применяем CatBoost с 340 факторами. Наш Two-Tower Model обрабатывает 180 000 SKU для персонализированных рекомендаций.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этом слайде представлены ключевые результаты за последние девять месяцев. Точность прогноза спроса увеличилась с 72% до 91,3%. Уровень дефицита товаров снизился с 8,4% до 3,1%. Время подготовки отчётов сократилось с 4,5 часов до 12 минут. Экономический эффект составил 14,2 млрд рублей в год с ROI 340%.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257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РетейлГрупп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95500" y="406400"/>
            <a:ext cx="977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25.02.2026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4114800"/>
            <a:ext cx="45593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E4CD9"/>
                </a:solidFill>
                <a:latin typeface="Montserrat"/>
              </a:defRPr>
            </a:pPr>
            <a:r>
              <a:rPr i="0" sz="7200" b="1">
                <a:solidFill>
                  <a:srgbClr val="1E4CD9"/>
                </a:solidFill>
                <a:latin typeface="Montserrat"/>
              </a:rPr>
              <a:t>Контекст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5080000"/>
            <a:ext cx="2273300" cy="50800"/>
          </a:xfrm>
          <a:prstGeom prst="roundRect">
            <a:avLst>
              <a:gd name="adj" fmla="val 150000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711200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1E4CD9"/>
                </a:solidFill>
                <a:latin typeface="Montserrat"/>
              </a:defRPr>
            </a:pPr>
            <a:r>
              <a:rPr i="0" sz="1800" b="0">
                <a:solidFill>
                  <a:srgbClr val="1E4CD9"/>
                </a:solidFill>
                <a:latin typeface="Montserrat"/>
              </a:rPr>
              <a:t>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7162800"/>
            <a:ext cx="1358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1E4CD9"/>
                </a:solidFill>
                <a:latin typeface="Montserrat"/>
              </a:defRPr>
            </a:pPr>
            <a:r>
              <a:rPr i="0" sz="1400" b="0">
                <a:solidFill>
                  <a:srgbClr val="1E4CD9"/>
                </a:solidFill>
                <a:latin typeface="Montserrat"/>
              </a:rPr>
              <a:t>+1 123 456 7890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900" y="711200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1E4CD9"/>
                </a:solidFill>
                <a:latin typeface="Montserrat"/>
              </a:defRPr>
            </a:pPr>
            <a:r>
              <a:rPr i="0" sz="1800" b="0">
                <a:solidFill>
                  <a:srgbClr val="1E4CD9"/>
                </a:solidFill>
                <a:latin typeface="Montserrat"/>
              </a:rPr>
              <a:t>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5600" y="7162800"/>
            <a:ext cx="2578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1E4CD9"/>
                </a:solidFill>
                <a:latin typeface="Montserrat"/>
              </a:defRPr>
            </a:pPr>
            <a:r>
              <a:rPr i="0" sz="1400" b="0">
                <a:solidFill>
                  <a:srgbClr val="1E4CD9"/>
                </a:solidFill>
                <a:latin typeface="Montserrat"/>
              </a:rPr>
              <a:t>123 Main Street, City, Country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6300" y="711200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1E4CD9"/>
                </a:solidFill>
                <a:latin typeface="Montserrat"/>
              </a:defRPr>
            </a:pPr>
            <a:r>
              <a:rPr i="0" sz="1800" b="0">
                <a:solidFill>
                  <a:srgbClr val="1E4CD9"/>
                </a:solidFill>
                <a:latin typeface="Montserrat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0" y="7162800"/>
            <a:ext cx="1943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1E4CD9"/>
                </a:solidFill>
                <a:latin typeface="Montserrat"/>
              </a:defRPr>
            </a:pPr>
            <a:r>
              <a:rPr i="0" sz="1400" b="0">
                <a:solidFill>
                  <a:srgbClr val="1E4CD9"/>
                </a:solidFill>
                <a:latin typeface="Montserrat"/>
              </a:rPr>
              <a:t>www.retailgroup.com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817880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1E4CD9"/>
                </a:solidFill>
                <a:latin typeface="Montserrat"/>
              </a:defRPr>
            </a:pPr>
            <a:r>
              <a:rPr i="0" sz="1800" b="0">
                <a:solidFill>
                  <a:srgbClr val="1E4CD9"/>
                </a:solidFill>
                <a:latin typeface="Montserrat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7975600"/>
            <a:ext cx="149987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3000"/>
              </a:lnSpc>
              <a:defRPr i="0" sz="1400" b="0">
                <a:solidFill>
                  <a:srgbClr val="1E4CD9"/>
                </a:solidFill>
                <a:latin typeface="Montserrat"/>
              </a:defRPr>
            </a:pPr>
            <a:r>
              <a:rPr i="0" sz="1400" b="0">
                <a:solidFill>
                  <a:srgbClr val="1E4CD9"/>
                </a:solidFill>
                <a:latin typeface="Montserrat"/>
              </a:rPr>
              <a:t>Компания «РетейлГрупп» — федеральный ритейлер с 2 400 магазинами в 78 регионах, оборот 680 млрд руб./год, 12 млн транзакций в день. В компании работало 14 разрозненных аналитических систем с задержкой синхронизации до 48 часов, что приводило к потерям 3,2% выручки из-за неоптимального управления.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739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Tech Solutions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03300" y="406400"/>
            <a:ext cx="2070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25 февраля 2026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850900"/>
            <a:ext cx="652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800" b="1">
                <a:solidFill>
                  <a:srgbClr val="FFFFFF"/>
                </a:solidFill>
                <a:latin typeface="Montserrat"/>
              </a:defRPr>
            </a:pPr>
            <a:r>
              <a:rPr i="0" sz="4800" b="1">
                <a:solidFill>
                  <a:srgbClr val="FFFFFF"/>
                </a:solidFill>
                <a:latin typeface="Montserrat"/>
              </a:rPr>
              <a:t>Архитектура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781300"/>
            <a:ext cx="6527800" cy="408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FFFFFF"/>
                </a:solidFill>
                <a:latin typeface="Montserrat"/>
              </a:defRPr>
            </a:pPr>
            <a:r>
              <a:rPr i="0" sz="1800" b="0">
                <a:solidFill>
                  <a:srgbClr val="FFFFFF"/>
                </a:solidFill>
                <a:latin typeface="Montserrat"/>
              </a:rPr>
              <a:t>Платформа использует микросервисную архитектуру для эффективного сбора и обработки данных. Система обрабатывает до 850 000 событий в секунду с помощью Apache Kafka и управляет 320 DAG через Apache Airflow. В системе интегрировано 47 внутренних коннекторов, обеспечивая ежедневный прирост данных в размере 2,8 ТБ. Для хранения данных используется MinIO Data Lake с уровнями Bronze, Silver и Gold, а для реального времени аналитики применяется Apache Druid с задержкой менее 200 мс.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40800" y="2324100"/>
            <a:ext cx="65024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578100"/>
            <a:ext cx="5156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Сбор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2984500"/>
            <a:ext cx="5156200" cy="8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Система обрабатывает до 850 000 событий в секунду с помощью Apache Kafka и управляет 320 DAG через Apache Airflow.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0800" y="4508500"/>
            <a:ext cx="6502400" cy="1498600"/>
          </a:xfrm>
          <a:prstGeom prst="roundRect">
            <a:avLst>
              <a:gd name="adj" fmla="val 6779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4762500"/>
            <a:ext cx="5156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Хранение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5168900"/>
            <a:ext cx="5156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Для хранения данных используется MinIO Data Lake с уровнями Bronze, Silver и Gold.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31800"/>
            <a:ext cx="1308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TechSolutions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60500" y="4318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25 февраля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146300"/>
            <a:ext cx="46863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ML-модели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505200"/>
            <a:ext cx="6527800" cy="185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0">
                <a:solidFill>
                  <a:srgbClr val="2563EB"/>
                </a:solidFill>
                <a:latin typeface="Montserrat"/>
              </a:rPr>
              <a:t>Использование передовых ML-моделей для прогнозирования спроса, оптимизации цен и рекомендаций. Наши решения включают LightGBM, CatBoost и Two-Tower Model, обеспечивая точность и эффективность.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082800"/>
            <a:ext cx="3492500" cy="1993900"/>
          </a:xfrm>
          <a:prstGeom prst="roundRect">
            <a:avLst>
              <a:gd name="adj" fmla="val 5095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0" y="3098800"/>
            <a:ext cx="19939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Прогноз спроса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79000" y="35052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02700" y="3657600"/>
            <a:ext cx="2171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0">
                <a:solidFill>
                  <a:srgbClr val="2563EB"/>
                </a:solidFill>
                <a:latin typeface="Montserrat"/>
              </a:rPr>
              <a:t>LightGBM + TFT, MAPE 4,7%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25300" y="2082800"/>
            <a:ext cx="3492500" cy="1993900"/>
          </a:xfrm>
          <a:prstGeom prst="roundRect">
            <a:avLst>
              <a:gd name="adj" fmla="val 5095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60300" y="3098800"/>
            <a:ext cx="22479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Оптимизация цен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74700" y="35052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38100" y="3657600"/>
            <a:ext cx="1879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0">
                <a:solidFill>
                  <a:srgbClr val="2563EB"/>
                </a:solidFill>
                <a:latin typeface="Montserrat"/>
              </a:rPr>
              <a:t>CatBoost, 340 факторов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267200"/>
            <a:ext cx="3492500" cy="1993900"/>
          </a:xfrm>
          <a:prstGeom prst="roundRect">
            <a:avLst>
              <a:gd name="adj" fmla="val 5095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5100" y="5283200"/>
            <a:ext cx="1879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Рекомендации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9000" y="56896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88400" y="5842000"/>
            <a:ext cx="23876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0">
                <a:solidFill>
                  <a:srgbClr val="2563EB"/>
                </a:solidFill>
                <a:latin typeface="Montserrat"/>
              </a:rPr>
              <a:t>Two-Tower Model, 180 000 SKU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00" y="9067800"/>
            <a:ext cx="162052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C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549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Ваша Компания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85900" y="4064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25 февраля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19200"/>
            <a:ext cx="146558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70000"/>
              </a:lnSpc>
              <a:defRPr i="0" sz="9600" b="1">
                <a:solidFill>
                  <a:srgbClr val="FFFFFF"/>
                </a:solidFill>
                <a:latin typeface="Montserrat"/>
              </a:defRPr>
            </a:pPr>
            <a:r>
              <a:rPr i="0" sz="9600" b="1">
                <a:solidFill>
                  <a:srgbClr val="FFFFFF"/>
                </a:solidFill>
                <a:latin typeface="Montserrat"/>
              </a:rPr>
              <a:t>Результаты (9 месяцев)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962400"/>
            <a:ext cx="146558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DBEAFE"/>
                </a:solidFill>
                <a:latin typeface="Montserrat"/>
              </a:defRPr>
            </a:pPr>
            <a:r>
              <a:rPr i="0" sz="2000" b="0">
                <a:solidFill>
                  <a:srgbClr val="DBEAFE"/>
                </a:solidFill>
                <a:latin typeface="Montserrat"/>
              </a:rPr>
              <a:t>Улучшение ключевых показателей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7721600"/>
            <a:ext cx="56007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3200" b="1">
                <a:solidFill>
                  <a:srgbClr val="FFFFFF"/>
                </a:solidFill>
                <a:latin typeface="Montserrat"/>
              </a:defRPr>
            </a:pPr>
            <a:r>
              <a:rPr i="0" sz="3200" b="1">
                <a:solidFill>
                  <a:srgbClr val="FFFFFF"/>
                </a:solidFill>
                <a:latin typeface="Montserrat"/>
              </a:rPr>
              <a:t>We are ready to assist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76200" y="7010400"/>
            <a:ext cx="165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FFFFFF"/>
                </a:solidFill>
                <a:latin typeface="Montserrat"/>
              </a:defRPr>
            </a:pPr>
            <a:r>
              <a:rPr i="0" sz="1400" b="0">
                <a:solidFill>
                  <a:srgbClr val="FFFFFF"/>
                </a:solidFill>
                <a:latin typeface="Montserrat"/>
              </a:rP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4800" y="7010400"/>
            <a:ext cx="2463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FFFFFF"/>
                </a:solidFill>
                <a:latin typeface="Montserrat"/>
              </a:defRPr>
            </a:pPr>
            <a:r>
              <a:rPr i="0" sz="1400" b="0">
                <a:solidFill>
                  <a:srgbClr val="FFFFFF"/>
                </a:solidFill>
                <a:latin typeface="Montserrat"/>
              </a:rPr>
              <a:t>Москва, ул. Примерная,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39800" y="7366000"/>
            <a:ext cx="165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FFFFFF"/>
                </a:solidFill>
                <a:latin typeface="Montserrat"/>
              </a:defRPr>
            </a:pPr>
            <a:r>
              <a:rPr i="0" sz="1400" b="0">
                <a:solidFill>
                  <a:srgbClr val="FFFFFF"/>
                </a:solidFill>
                <a:latin typeface="Montserrat"/>
              </a:rPr>
              <a:t>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68400" y="7366000"/>
            <a:ext cx="1600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FFFFFF"/>
                </a:solidFill>
                <a:latin typeface="Montserrat"/>
              </a:defRPr>
            </a:pPr>
            <a:r>
              <a:rPr i="0" sz="1400" b="0">
                <a:solidFill>
                  <a:srgbClr val="FFFFFF"/>
                </a:solidFill>
                <a:latin typeface="Montserrat"/>
              </a:rPr>
              <a:t>+7 (495) 123-45-67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12800" y="7721600"/>
            <a:ext cx="165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FFFFFF"/>
                </a:solidFill>
                <a:latin typeface="Montserrat"/>
              </a:defRPr>
            </a:pPr>
            <a:r>
              <a:rPr i="0" sz="1400" b="0">
                <a:solidFill>
                  <a:srgbClr val="FFFFFF"/>
                </a:solidFill>
                <a:latin typeface="Montserrat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41400" y="77216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FFFFFF"/>
                </a:solidFill>
                <a:latin typeface="Montserrat"/>
              </a:defRPr>
            </a:pPr>
            <a:r>
              <a:rPr i="0" sz="1400" b="0">
                <a:solidFill>
                  <a:srgbClr val="FFFFFF"/>
                </a:solidFill>
                <a:latin typeface="Montserrat"/>
              </a:rPr>
              <a:t>www.example.com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11200" y="8077200"/>
            <a:ext cx="228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FFFFFF"/>
                </a:solidFill>
                <a:latin typeface="Montserrat"/>
              </a:defRPr>
            </a:pPr>
            <a:r>
              <a:rPr i="0" sz="1400" b="0">
                <a:solidFill>
                  <a:srgbClr val="FFFFFF"/>
                </a:solidFill>
                <a:latin typeface="Montserrat"/>
              </a:rPr>
              <a:t>✉️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0" y="8077200"/>
            <a:ext cx="1752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FFFFFF"/>
                </a:solidFill>
                <a:latin typeface="Montserrat"/>
              </a:defRPr>
            </a:pPr>
            <a:r>
              <a:rPr i="0" sz="1400" b="0">
                <a:solidFill>
                  <a:srgbClr val="FFFFFF"/>
                </a:solidFill>
                <a:latin typeface="Montserrat"/>
              </a:rPr>
              <a:t>info@example.com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