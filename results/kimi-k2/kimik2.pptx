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Компанию знаем — одна из крупнейших федеральных. Подчеркиваем масштаб: 2 400 точек, 12 млн чеков в день. Затем говорим, что рост обнажил проблему: сломанная аналитика, 14 независимых систем, информация обновляется максимум раз в двое суток. Итог — 3,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день. Перед вами стек Big Data и ML, который позволяет команде собирать, хранить и использовать данные для продукта. Отмечу три блока: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Сводные цифры показывают результат: +19,3 % к точности прогноза, –5,3 % штраф за out-of-stock и почти минус 95 % времени отчётности. ROI 340 % говорит сам за себя.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Заметьте: 84 человека уже распределены по направлениям — аналитика, девелопмент и инфраструктура первоначально покрывают все ключевые зоны нашего проекта.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257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РетейлГрупп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0" y="406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FFFFFF"/>
                </a:solidFill>
                <a:latin typeface="Montserrat"/>
              </a:defRPr>
            </a:pPr>
            <a:r>
              <a:rPr i="0" sz="1400" b="1">
                <a:solidFill>
                  <a:srgbClr val="FFFFFF"/>
                </a:solidFill>
                <a:latin typeface="Montserrat"/>
              </a:rPr>
              <a:t>25 фев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68500"/>
            <a:ext cx="652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800" b="1">
                <a:solidFill>
                  <a:srgbClr val="FFFFFF"/>
                </a:solidFill>
                <a:latin typeface="Montserrat"/>
              </a:defRPr>
            </a:pPr>
            <a:r>
              <a:rPr i="0" sz="4800" b="1">
                <a:solidFill>
                  <a:srgbClr val="FFFFFF"/>
                </a:solidFill>
                <a:latin typeface="Montserrat"/>
              </a:rPr>
              <a:t>РетейлГрупп: 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898900"/>
            <a:ext cx="6527800" cy="749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1">
                <a:solidFill>
                  <a:srgbClr val="FFFFFF"/>
                </a:solidFill>
                <a:latin typeface="Montserrat"/>
              </a:rPr>
              <a:t>2 400 торговых точек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 в 78 регионах, оборот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680 млрд ₽/г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,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12 млн транзакций/день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635500"/>
            <a:ext cx="6527800" cy="111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FFFFFF"/>
                </a:solidFill>
                <a:latin typeface="Montserrat"/>
              </a:defRPr>
            </a:pPr>
            <a:r>
              <a:rPr i="0" sz="1800" b="0">
                <a:solidFill>
                  <a:srgbClr val="FFFFFF"/>
                </a:solidFill>
                <a:latin typeface="Montserrat"/>
              </a:rPr>
              <a:t>Аналитика раздроблена: </a:t>
            </a:r>
            <a:r>
              <a:rPr i="0" sz="1800" b="1">
                <a:solidFill>
                  <a:srgbClr val="FFFFFF"/>
                </a:solidFill>
                <a:latin typeface="Montserrat"/>
              </a:rPr>
              <a:t>14 систем</a:t>
            </a:r>
            <a:r>
              <a:rPr i="0" sz="1800" b="0">
                <a:solidFill>
                  <a:srgbClr val="FFFFFF"/>
                </a:solidFill>
                <a:latin typeface="Montserrat"/>
              </a:rPr>
              <a:t>, синхронизация до 48 ч, недочёты управления запасами отнимают **3,2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40800" y="18161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800" y="2070100"/>
            <a:ext cx="4889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Болезнь роста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2476500"/>
            <a:ext cx="48895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Масштаб компании раскрыл уязвимости процессов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40800" y="3416300"/>
            <a:ext cx="6502400" cy="1498600"/>
          </a:xfrm>
          <a:prstGeom prst="roundRect">
            <a:avLst>
              <a:gd name="adj" fmla="val 6779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8800" y="3670300"/>
            <a:ext cx="571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Синхронизация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8800" y="4076700"/>
            <a:ext cx="57150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3000"/>
              </a:lnSpc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Суточные задержки данных ограничивают реакцию ритейл-подразделений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0800" y="5321300"/>
            <a:ext cx="65024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5000"/>
            </a:srgbClr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8800" y="5575300"/>
            <a:ext cx="52705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FFFFFF"/>
                </a:solidFill>
                <a:latin typeface="Montserrat"/>
              </a:defRPr>
            </a:pPr>
            <a:r>
              <a:rPr i="0" sz="2000" b="1">
                <a:solidFill>
                  <a:srgbClr val="FFFFFF"/>
                </a:solidFill>
                <a:latin typeface="Montserrat"/>
              </a:rPr>
              <a:t>Финансовые потери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8800" y="5981700"/>
            <a:ext cx="52705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0">
                <a:solidFill>
                  <a:srgbClr val="DBEAFE"/>
                </a:solidFill>
                <a:latin typeface="Montserrat"/>
              </a:defRPr>
            </a:pPr>
            <a:r>
              <a:rPr i="0" sz="1400" b="0">
                <a:solidFill>
                  <a:srgbClr val="DBEAFE"/>
                </a:solidFill>
                <a:latin typeface="Montserrat"/>
              </a:rPr>
              <a:t>3,2 % упущенной выручки из-за неоптимальных запасов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FFFFFF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2844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Система обработки данных 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5500" y="406400"/>
            <a:ext cx="977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25.02.2026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68500"/>
            <a:ext cx="6019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ML-модели действуют в 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279900"/>
            <a:ext cx="6019800" cy="148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800" b="0">
                <a:solidFill>
                  <a:srgbClr val="2563EB"/>
                </a:solidFill>
                <a:latin typeface="Montserrat"/>
              </a:defRPr>
            </a:pPr>
            <a:r>
              <a:rPr i="0" sz="1800" b="0">
                <a:solidFill>
                  <a:srgbClr val="2563EB"/>
                </a:solidFill>
                <a:latin typeface="Montserrat"/>
              </a:rPr>
              <a:t>Масштабируемая платформа собирает 2,8 TB данных ежедневно, с 200 мс откликом и ~200 серверами, поддерживает четыре ключевые модели и отдает результат через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40800" y="12446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94800" y="1892300"/>
            <a:ext cx="2565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2563EB"/>
                </a:solidFill>
                <a:latin typeface="Montserrat"/>
              </a:defRPr>
            </a:pPr>
            <a:r>
              <a:rPr i="0" sz="2000" b="1">
                <a:solidFill>
                  <a:srgbClr val="2563EB"/>
                </a:solidFill>
                <a:latin typeface="Montserrat"/>
              </a:rPr>
              <a:t>Сбор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4800" y="2400300"/>
            <a:ext cx="256540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2563EB"/>
                </a:solidFill>
                <a:latin typeface="Montserrat"/>
              </a:defRPr>
            </a:pPr>
            <a:r>
              <a:rPr i="0" sz="1400" b="0">
                <a:solidFill>
                  <a:srgbClr val="2563EB"/>
                </a:solidFill>
                <a:latin typeface="Montserrat"/>
              </a:rPr>
              <a:t>850 k событий/с забирает Kafka, Airflow управляет 320 DAG и 47 коннекторами — вход 2,8 TB/ден</a:t>
            </a:r>
          </a:p>
        </p:txBody>
      </p:sp>
      <p:pic>
        <p:nvPicPr>
          <p:cNvPr id="9" name="Picture 8" descr="386aa25e-6e49-458b-b691-ea7a570f6f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4495800"/>
            <a:ext cx="3048000" cy="2590800"/>
          </a:xfrm>
          <a:prstGeom prst="rect">
            <a:avLst/>
          </a:prstGeom>
        </p:spPr>
      </p:pic>
      <p:pic>
        <p:nvPicPr>
          <p:cNvPr id="10" name="Picture 9" descr="ff2d74d2-1c6e-4b59-a808-c01b8f2f1d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95200" y="1244600"/>
            <a:ext cx="3048000" cy="25908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2395200" y="3835400"/>
            <a:ext cx="3048000" cy="3251200"/>
          </a:xfrm>
          <a:prstGeom prst="roundRect">
            <a:avLst>
              <a:gd name="adj" fmla="val 2500"/>
            </a:avLst>
          </a:prstGeom>
          <a:solidFill>
            <a:srgbClr val="F3F4F6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49200" y="4457700"/>
            <a:ext cx="25654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2563EB"/>
                </a:solidFill>
                <a:latin typeface="Montserrat"/>
              </a:defRPr>
            </a:pPr>
            <a:r>
              <a:rPr i="0" sz="2000" b="1">
                <a:solidFill>
                  <a:srgbClr val="2563EB"/>
                </a:solidFill>
                <a:latin typeface="Montserrat"/>
              </a:rPr>
              <a:t>Хранение и вычисления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49200" y="5321300"/>
            <a:ext cx="2565400" cy="1155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3000"/>
              </a:lnSpc>
              <a:defRPr i="0" sz="1400" b="0">
                <a:solidFill>
                  <a:srgbClr val="2563EB"/>
                </a:solidFill>
                <a:latin typeface="Montserrat"/>
              </a:defRPr>
            </a:pPr>
            <a:r>
              <a:rPr i="0" sz="1400" b="0">
                <a:solidFill>
                  <a:srgbClr val="2563EB"/>
                </a:solidFill>
                <a:latin typeface="Montserrat"/>
              </a:rPr>
              <a:t>MinIO Bronze/ Silver/ Gold, Druid </a:t>
            </a:r>
            <a:r>
              <a:rPr i="0" sz="1400" b="0">
                <a:solidFill>
                  <a:srgbClr val="2563EB"/>
                </a:solidFill>
                <a:latin typeface="Montserrat"/>
              </a:rPr>
              <a:t>&lt;</a:t>
            </a:r>
            <a:r>
              <a:rPr i="0" sz="1400" b="0">
                <a:solidFill>
                  <a:srgbClr val="2563EB"/>
                </a:solidFill>
                <a:latin typeface="Montserrat"/>
              </a:rPr>
              <a:t> 200 ms real-time, k8s-кластер из 186 узлов обеспечил отказоустойчив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9812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Ритейл Сбережения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95500" y="406400"/>
            <a:ext cx="977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25.02.2026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387600"/>
            <a:ext cx="68326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6000" b="1">
                <a:solidFill>
                  <a:srgbClr val="2563EB"/>
                </a:solidFill>
                <a:latin typeface="Montserrat"/>
              </a:defRPr>
            </a:pPr>
            <a:r>
              <a:rPr i="0" sz="6000" b="1">
                <a:solidFill>
                  <a:srgbClr val="2563EB"/>
                </a:solidFill>
                <a:latin typeface="Montserrat"/>
              </a:rPr>
              <a:t>Итоги внедрения BI-ф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699000"/>
            <a:ext cx="6527800" cy="144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3000"/>
              </a:lnSpc>
              <a:defRPr i="0" sz="1400" b="0">
                <a:solidFill>
                  <a:srgbClr val="2563EB"/>
                </a:solidFill>
                <a:latin typeface="Montserrat"/>
              </a:defRPr>
            </a:pPr>
            <a:r>
              <a:rPr i="0" sz="1400" b="0">
                <a:solidFill>
                  <a:srgbClr val="2563EB"/>
                </a:solidFill>
                <a:latin typeface="Montserrat"/>
              </a:rPr>
              <a:t>Переключение на продвинутый BI-движок подняло точность прогноза спроса с 72 % до рекордных 91,3 %. Out-of-stock упал почти втрое, с 8,4 % до 3,1 %. Время подготовки отчётов сократилось с 4,5 ч до 12 мин. Годовая экономия — </a:t>
            </a:r>
            <a:r>
              <a:rPr i="0" sz="1400" b="1">
                <a:solidFill>
                  <a:srgbClr val="2563EB"/>
                </a:solidFill>
                <a:latin typeface="Montserrat"/>
              </a:rPr>
              <a:t>14,2 млрд ₽</a:t>
            </a:r>
            <a:r>
              <a:rPr i="0" sz="1400" b="0">
                <a:solidFill>
                  <a:srgbClr val="2563EB"/>
                </a:solidFill>
                <a:latin typeface="Montserrat"/>
              </a:rPr>
              <a:t>, проект окупился с </a:t>
            </a:r>
            <a:r>
              <a:rPr i="0" sz="1400" b="1">
                <a:solidFill>
                  <a:srgbClr val="2563EB"/>
                </a:solidFill>
                <a:latin typeface="Montserrat"/>
              </a:rPr>
              <a:t>ROI 340 %</a:t>
            </a:r>
            <a:r>
              <a:rPr i="0" sz="1400" b="0">
                <a:solidFill>
                  <a:srgbClr val="2563EB"/>
                </a:solidFill>
                <a:latin typeface="Montserrat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36000" y="1879600"/>
            <a:ext cx="6807200" cy="368300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467154d6-645e-4346-83e3-6ffe9b5419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900" y="2095500"/>
            <a:ext cx="6375400" cy="3581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44100" y="2908300"/>
            <a:ext cx="762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Montserrat"/>
              </a:defRPr>
            </a:pPr>
            <a:r>
              <a:rPr i="0" sz="1200" b="1">
                <a:solidFill>
                  <a:srgbClr val="09090B"/>
                </a:solidFill>
                <a:latin typeface="Montserrat"/>
              </a:rPr>
              <a:t>Точность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8700" y="3060700"/>
            <a:ext cx="787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Montserrat"/>
              </a:defRPr>
            </a:pPr>
            <a:r>
              <a:rPr i="0" sz="1200" b="1">
                <a:solidFill>
                  <a:srgbClr val="09090B"/>
                </a:solidFill>
                <a:latin typeface="Montserrat"/>
              </a:rPr>
              <a:t>прогноза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0100" y="4572000"/>
            <a:ext cx="10160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200" b="1">
                <a:solidFill>
                  <a:srgbClr val="09090B"/>
                </a:solidFill>
                <a:latin typeface="Montserrat"/>
              </a:defRPr>
            </a:pPr>
            <a:r>
              <a:rPr i="0" sz="1200" b="1">
                <a:solidFill>
                  <a:srgbClr val="09090B"/>
                </a:solidFill>
                <a:latin typeface="Montserrat"/>
              </a:rPr>
              <a:t>Out-of-stock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2300" y="2298700"/>
            <a:ext cx="279400" cy="27940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36000" y="5867400"/>
            <a:ext cx="6807200" cy="1409700"/>
          </a:xfrm>
          <a:prstGeom prst="roundRect">
            <a:avLst>
              <a:gd name="adj" fmla="val 1081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25400" dir="5400000" dist="127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a37f7d9b-f196-428f-8fbd-ac3acddffb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8700" y="5880100"/>
            <a:ext cx="6781800" cy="13843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549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84 специалиста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41500" y="406400"/>
            <a:ext cx="12319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400" b="1">
                <a:solidFill>
                  <a:srgbClr val="1E4CD9"/>
                </a:solidFill>
                <a:latin typeface="Montserrat"/>
              </a:defRPr>
            </a:pPr>
            <a:r>
              <a:rPr i="0" sz="1400" b="1">
                <a:solidFill>
                  <a:srgbClr val="1E4CD9"/>
                </a:solidFill>
                <a:latin typeface="Montserrat"/>
              </a:rPr>
              <a:t>25.02.26 13:57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9093200"/>
            <a:ext cx="16256000" cy="50800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612900"/>
            <a:ext cx="80391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7200" b="1">
                <a:solidFill>
                  <a:srgbClr val="2563EB"/>
                </a:solidFill>
                <a:latin typeface="Montserrat"/>
              </a:defRPr>
            </a:pPr>
            <a:r>
              <a:rPr i="0" sz="7200" b="1">
                <a:solidFill>
                  <a:srgbClr val="2563EB"/>
                </a:solidFill>
                <a:latin typeface="Montserrat"/>
              </a:rPr>
              <a:t>Состав команды,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5600" y="36703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38400" y="39751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68d1f427-1ea9-405e-acda-9a8bb9c6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4000500"/>
            <a:ext cx="1371600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41600" y="5600700"/>
            <a:ext cx="10414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Эксперт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6200" y="6007100"/>
            <a:ext cx="10795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8600" y="6057900"/>
            <a:ext cx="800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0400" y="6413500"/>
            <a:ext cx="24638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анализирует вашу кредитную историю, проверяет надёжность данных и обнаруживает шаблоны, которые влият...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670300"/>
            <a:ext cx="3048000" cy="4572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16800" y="39751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5" name="Picture 14" descr="68d1f427-1ea9-405e-acda-9a8bb9c6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200" y="4000500"/>
            <a:ext cx="137160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18400" y="5600700"/>
            <a:ext cx="1244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Младший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0600" y="6007100"/>
            <a:ext cx="15621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3000" y="6057900"/>
            <a:ext cx="12827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Разработчик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8800" y="6413500"/>
            <a:ext cx="2463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разрабатывает новые функции мобильного приложения, непрерывно улучшает интерфейс, добавляет фильтры...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582400" y="3670300"/>
            <a:ext cx="3048000" cy="43180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>
            <a:noFill/>
          </a:ln>
          <a:effectLst>
            <a:outerShdw blurRad="76200" dir="540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395200" y="3975100"/>
            <a:ext cx="1422400" cy="14224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DBEAFE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68d1f427-1ea9-405e-acda-9a8bb9c63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4000500"/>
            <a:ext cx="137160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69800" y="5600700"/>
            <a:ext cx="14986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1">
                <a:solidFill>
                  <a:srgbClr val="1D4ED8"/>
                </a:solidFill>
                <a:latin typeface="Montserrat"/>
              </a:defRPr>
            </a:pPr>
            <a:r>
              <a:rPr i="0" sz="1800" b="1">
                <a:solidFill>
                  <a:srgbClr val="1D4ED8"/>
                </a:solidFill>
                <a:latin typeface="Montserrat"/>
              </a:rPr>
              <a:t>Архитектор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28500" y="6007100"/>
            <a:ext cx="1943100" cy="3048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80900" y="6057900"/>
            <a:ext cx="16637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200" b="1">
                <a:solidFill>
                  <a:srgbClr val="FFFFFF"/>
                </a:solidFill>
                <a:latin typeface="Montserrat"/>
              </a:defRPr>
            </a:pPr>
            <a:r>
              <a:rPr i="0" sz="1200" b="1">
                <a:solidFill>
                  <a:srgbClr val="FFFFFF"/>
                </a:solidFill>
                <a:latin typeface="Montserrat"/>
              </a:rPr>
              <a:t>Инфраструктуры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0" y="6413500"/>
            <a:ext cx="24638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3000"/>
              </a:lnSpc>
              <a:defRPr i="0" sz="1400" b="0">
                <a:solidFill>
                  <a:srgbClr val="374151"/>
                </a:solidFill>
                <a:latin typeface="Montserrat"/>
              </a:defRPr>
            </a:pPr>
            <a:r>
              <a:rPr i="0" sz="1400" b="0">
                <a:solidFill>
                  <a:srgbClr val="374151"/>
                </a:solidFill>
                <a:latin typeface="Montserrat"/>
              </a:rPr>
              <a:t>проектирует облачную архитектуру, выбирает оптимальные решения AWS/GCP, следит за масштабируемостью...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