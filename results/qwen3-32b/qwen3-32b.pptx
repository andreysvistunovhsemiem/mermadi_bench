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Презентуем данные внедрения DataPulse в розничной сети компании РетейлГрупп. Эта система обеспечила значительные улучшения в управлении запасами и прогнозировании спроса. Давайте рассмотрим ключевые моменты реализации и полученные преимущества.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Платформа аналитики, ориентированная на масштабирование, использует микросервисную архитектуру для обработки 850 000 событий в секунду и хранения 2,8 терабайтов ежедневных данных. Решения Kafka и Airflow обеспечивают потоковую обработку и управление,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Наши ML-модели показывают высокую точность и экономический эффект. LightGBM и TFT используются для прогноза спроса и цен, обеспечивая 91,3% точности, а CatBoost и Two-Tower Model обеспечивают экономию в 14,2 млрд рублей в год. Эти решения демонстриру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9 месяцев команда повысила точность прогноза до 91,3% и снизила уровень недостачи до 3,1%. Бюджет в 1,86 млрд ₽, 84 специалиста обеспечили экономический эффект 14,2 млрд ₽ в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4114800"/>
            <a:ext cx="84455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E4CD9"/>
                </a:solidFill>
                <a:latin typeface="Montserrat"/>
              </a:defRPr>
            </a:pPr>
            <a:r>
              <a:rPr i="0" sz="7200" b="1">
                <a:solidFill>
                  <a:srgbClr val="1E4CD9"/>
                </a:solidFill>
                <a:latin typeface="Montserrat"/>
              </a:rPr>
              <a:t>Краткое презент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5080000"/>
            <a:ext cx="4216400" cy="50800"/>
          </a:xfrm>
          <a:prstGeom prst="roundRect">
            <a:avLst>
              <a:gd name="adj" fmla="val 15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7162800"/>
            <a:ext cx="1498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+7 800 555-35-35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6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300" y="7162800"/>
            <a:ext cx="241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г. Москва, ул. Тверская,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09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7600" y="7162800"/>
            <a:ext cx="1739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www.retailgroup.ru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81788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7975600"/>
            <a:ext cx="149987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Внедрение системы DataPulse позволило компании "РетейлГрупп" сократить неликвиды, оптимизировать оборотные запасы, а также повысить точность прогнозирования спроса на 20%. В результате эти изменения помогли снизить доходы на 3% в год.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8483600"/>
            <a:ext cx="1499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Компания является федеральным ритейлером, работающим с оборотом в 680 млрд руб./год при наличии 2 400 магазинов и 12 млн транзакций в день.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536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Данные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46200" y="4064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 февраля 2026г.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95400"/>
            <a:ext cx="75692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Масштабируемая аналитическая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559300"/>
            <a:ext cx="6527800" cy="185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Платформа аналитики, ориентированная на масштабирование, использует микросервисную архитектуру для обработки 850 000 событий в секунду и обеспечивает хранение 2,8 терабайтов ежедневных данных.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12446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94800" y="1600200"/>
            <a:ext cx="256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Kafka и Airflow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4800" y="2108200"/>
            <a:ext cx="2565400" cy="201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Решение Kafka и Airflow обрабатывает потоки данных с высокой скоростью и обеспечивает эффективное управление задачами.</a:t>
            </a:r>
          </a:p>
        </p:txBody>
      </p:sp>
      <p:pic>
        <p:nvPicPr>
          <p:cNvPr id="9" name="Picture 8" descr="57cb87cd-623d-41e9-ad33-4db7f2f7fa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4495800"/>
            <a:ext cx="3048000" cy="2590800"/>
          </a:xfrm>
          <a:prstGeom prst="rect">
            <a:avLst/>
          </a:prstGeom>
        </p:spPr>
      </p:pic>
      <p:pic>
        <p:nvPicPr>
          <p:cNvPr id="10" name="Picture 9" descr="ae0f08bf-6f2d-4f7f-ab28-21d8537620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5200" y="1244600"/>
            <a:ext cx="3048000" cy="2590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395200" y="38354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49200" y="4305300"/>
            <a:ext cx="25654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2563EB"/>
                </a:solidFill>
                <a:latin typeface="Montserrat"/>
              </a:defRPr>
            </a:pPr>
            <a:r>
              <a:rPr i="0" sz="2000" b="1">
                <a:solidFill>
                  <a:srgbClr val="2563EB"/>
                </a:solidFill>
                <a:latin typeface="Montserrat"/>
              </a:rPr>
              <a:t>Kubernetes-кластер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49200" y="5168900"/>
            <a:ext cx="256540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2563EB"/>
                </a:solidFill>
                <a:latin typeface="Montserrat"/>
              </a:defRPr>
            </a:pPr>
            <a:r>
              <a:rPr i="0" sz="1400" b="0">
                <a:solidFill>
                  <a:srgbClr val="2563EB"/>
                </a:solidFill>
                <a:latin typeface="Montserrat"/>
              </a:rPr>
              <a:t>Kubernetes-кластер из 186 узлов обеспечивает надежное хранение и устойчивость аналитических данных.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2578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Искусственный Интеллект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60500" y="4318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68500"/>
            <a:ext cx="71882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Наши модели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327400"/>
            <a:ext cx="6527800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Прогноз спроса, прогнозирование цен, персонализированные рекомендации, обнаружение аномалий и NLP реализованы с использованием модели LightGBM, TFT, CatBoost и Two-Tower Model. Модели показывают точность 91,3% и экономят 14,2 млрд рублей в год.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781300"/>
            <a:ext cx="3492500" cy="2768600"/>
          </a:xfrm>
          <a:prstGeom prst="roundRect">
            <a:avLst>
              <a:gd name="adj" fmla="val 3669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3300" y="3797300"/>
            <a:ext cx="274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Прогноз спроса и цен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79000" y="42037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0" y="4356100"/>
            <a:ext cx="32131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Модели LightGBM и TFT обеспечивают высокую точность прогноза 91,3%.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25300" y="2781300"/>
            <a:ext cx="3492500" cy="2768600"/>
          </a:xfrm>
          <a:prstGeom prst="roundRect">
            <a:avLst>
              <a:gd name="adj" fmla="val 3669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7700" y="3797300"/>
            <a:ext cx="32131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Рекомендации и экономия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45593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7700" y="4711700"/>
            <a:ext cx="321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CatBoost и Two-Tower Model обеспечивают 14,2 млрд руб./год экономии.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346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Торговая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33400"/>
            <a:ext cx="60325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Результаты и вклад команды в 9 месяцев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4546600"/>
            <a:ext cx="60071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61000f82-44e2-4832-a6fc-28296a6942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749800"/>
            <a:ext cx="56007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98900" y="7302500"/>
            <a:ext cx="6223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9 мес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71374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1300" y="6527800"/>
            <a:ext cx="254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5918200"/>
            <a:ext cx="279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700" y="5308600"/>
            <a:ext cx="35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4787900"/>
            <a:ext cx="381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140</a:t>
            </a:r>
          </a:p>
        </p:txBody>
      </p:sp>
      <p:pic>
        <p:nvPicPr>
          <p:cNvPr id="13" name="Picture 12" descr="e00ae2ed-deae-47a5-8208-ee64d0a010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400" y="77089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94000" y="7658100"/>
            <a:ext cx="609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E4CD9"/>
                </a:solidFill>
                <a:latin typeface="Montserrat"/>
              </a:defRPr>
            </a:pPr>
            <a:r>
              <a:rPr i="0" sz="1600" b="1">
                <a:solidFill>
                  <a:srgbClr val="1E4CD9"/>
                </a:solidFill>
                <a:latin typeface="Montserrat"/>
              </a:rPr>
              <a:t>Value</a:t>
            </a:r>
          </a:p>
        </p:txBody>
      </p:sp>
      <p:pic>
        <p:nvPicPr>
          <p:cNvPr id="15" name="Picture 14" descr="ca11fde4-0f3a-492e-a05c-ed1f9304bc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770890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33800" y="7658100"/>
            <a:ext cx="1244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3B82F6"/>
                </a:solidFill>
                <a:latin typeface="Montserrat"/>
              </a:defRPr>
            </a:pPr>
            <a:r>
              <a:rPr i="0" sz="1600" b="1">
                <a:solidFill>
                  <a:srgbClr val="3B82F6"/>
                </a:solidFill>
                <a:latin typeface="Montserrat"/>
              </a:rPr>
              <a:t>Description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1500" y="4876800"/>
            <a:ext cx="254000" cy="254000"/>
          </a:xfrm>
          <a:prstGeom prst="roundRect">
            <a:avLst>
              <a:gd name="adj" fmla="val 4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5900" y="2679700"/>
            <a:ext cx="7340600" cy="132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600" b="0">
                <a:solidFill>
                  <a:srgbClr val="2563EB"/>
                </a:solidFill>
                <a:latin typeface="Montserrat"/>
              </a:defRPr>
            </a:pPr>
            <a:r>
              <a:rPr i="0" sz="1600" b="0">
                <a:solidFill>
                  <a:srgbClr val="2563EB"/>
                </a:solidFill>
                <a:latin typeface="Montserrat"/>
              </a:rPr>
              <a:t>Результаты работы команды за девять месяцев показывают улучшение показателей эффективности. Увеличена точность прогнозов спроса, снижены случаи отсутствия товаров на полках. Экономический результат пр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5900" y="4711700"/>
            <a:ext cx="3657600" cy="1765300"/>
          </a:xfrm>
          <a:prstGeom prst="roundRect">
            <a:avLst>
              <a:gd name="adj" fmla="val 5755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9900" y="4914900"/>
            <a:ext cx="7366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2300" y="4965700"/>
            <a:ext cx="45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9900" y="5321300"/>
            <a:ext cx="1943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9900" y="5778500"/>
            <a:ext cx="26543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Value growth over the period.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85600" y="4711700"/>
            <a:ext cx="3657600" cy="1765300"/>
          </a:xfrm>
          <a:prstGeom prst="roundRect">
            <a:avLst>
              <a:gd name="adj" fmla="val 5755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39600" y="4914900"/>
            <a:ext cx="12192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92000" y="4965700"/>
            <a:ext cx="939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39600" y="5321300"/>
            <a:ext cx="1943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39600" y="5778500"/>
            <a:ext cx="317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Description growth over the period.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