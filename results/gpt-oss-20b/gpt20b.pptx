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Сделайте акцент на масштабе сети и сложности интеграции данных. Показатель потерь подчёркивает необходимость улучшения управления запасами.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Основные характеристики платформы и ключевые метрики работы. Сфокусируйтесь на масштабах и эффективности.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Подчеркните ключевые показатели: рост точности спроса, снижение Out‑of‑stock, сокращение времени отчёта, значительный экономический эффект и высокий ROI.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этом слайде представлена численность команды и распределение проекта по основным категориям бюджета.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1257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РетейлГрупп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44700" y="406400"/>
            <a:ext cx="1028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2026-02-25</a:t>
            </a:r>
          </a:p>
        </p:txBody>
      </p:sp>
      <p:pic>
        <p:nvPicPr>
          <p:cNvPr id="4" name="Picture 3" descr="6f904e16-21af-4c64-9fbc-95611b60e4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930400"/>
            <a:ext cx="6502400" cy="4876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40800" y="2057400"/>
            <a:ext cx="65278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defRPr i="0" sz="6000" b="1">
                <a:solidFill>
                  <a:srgbClr val="2563EB"/>
                </a:solidFill>
                <a:latin typeface="Montserrat"/>
              </a:defRPr>
            </a:pPr>
            <a:r>
              <a:rPr i="0" sz="6000" b="1">
                <a:solidFill>
                  <a:srgbClr val="2563EB"/>
                </a:solidFill>
                <a:latin typeface="Montserrat"/>
              </a:rPr>
              <a:t>РетейлГрупп: масштаб и вызовы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40800" y="5524500"/>
            <a:ext cx="6527800" cy="749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3000"/>
              </a:lnSpc>
              <a:defRPr i="0" sz="1800" b="0">
                <a:solidFill>
                  <a:srgbClr val="2563EB"/>
                </a:solidFill>
                <a:latin typeface="Montserrat"/>
              </a:defRPr>
            </a:pPr>
            <a:r>
              <a:rPr i="0" sz="1800" b="0">
                <a:solidFill>
                  <a:srgbClr val="2563EB"/>
                </a:solidFill>
                <a:latin typeface="Montserrat"/>
              </a:rPr>
              <a:t>Масштаб и вызовы: ключевые показатели сети и эффективность управления запасами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431800"/>
            <a:ext cx="20701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ООО "ТехПлатформа"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982700" y="431800"/>
            <a:ext cx="1765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2026‑02‑25 13:40:27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413000"/>
            <a:ext cx="72136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6000" b="1">
                <a:solidFill>
                  <a:srgbClr val="2563EB"/>
                </a:solidFill>
                <a:latin typeface="Montserrat"/>
              </a:defRPr>
            </a:pPr>
            <a:r>
              <a:rPr i="0" sz="6000" b="1">
                <a:solidFill>
                  <a:srgbClr val="2563EB"/>
                </a:solidFill>
                <a:latin typeface="Montserrat"/>
              </a:rPr>
              <a:t>Платформа и Метрики (МИКР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4724400"/>
            <a:ext cx="27813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1800" b="0">
                <a:solidFill>
                  <a:srgbClr val="2563EB"/>
                </a:solidFill>
                <a:latin typeface="Montserrat"/>
              </a:defRPr>
            </a:pPr>
            <a:r>
              <a:rPr i="0" sz="1800" b="0">
                <a:solidFill>
                  <a:srgbClr val="2563EB"/>
                </a:solidFill>
                <a:latin typeface="Montserrat"/>
              </a:rPr>
              <a:t>Платформа и Метрики: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587500"/>
            <a:ext cx="3492500" cy="2768600"/>
          </a:xfrm>
          <a:prstGeom prst="roundRect">
            <a:avLst>
              <a:gd name="adj" fmla="val 3669"/>
            </a:avLst>
          </a:prstGeom>
          <a:solidFill>
            <a:srgbClr val="F5F8FE"/>
          </a:solidFill>
          <a:ln>
            <a:noFill/>
          </a:ln>
          <a:effectLst>
            <a:outerShdw blurRad="25400" dir="5400000" dist="127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0" y="2603500"/>
            <a:ext cx="32131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800" b="1">
                <a:solidFill>
                  <a:srgbClr val="2563EB"/>
                </a:solidFill>
                <a:latin typeface="Montserrat"/>
              </a:defRPr>
            </a:pPr>
            <a:r>
              <a:rPr i="0" sz="1800" b="1">
                <a:solidFill>
                  <a:srgbClr val="2563EB"/>
                </a:solidFill>
                <a:latin typeface="Montserrat"/>
              </a:rPr>
              <a:t>Ключевые показатели: ML и BI.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79000" y="3365500"/>
            <a:ext cx="406400" cy="50800"/>
          </a:xfrm>
          <a:prstGeom prst="roundRect">
            <a:avLst>
              <a:gd name="adj" fmla="val 2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0" y="3517900"/>
            <a:ext cx="32131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defRPr i="0" sz="1200" b="0">
                <a:solidFill>
                  <a:srgbClr val="2563EB"/>
                </a:solidFill>
                <a:latin typeface="Montserrat"/>
              </a:defRPr>
            </a:pPr>
            <a:r>
              <a:rPr i="0" sz="1200" b="0">
                <a:solidFill>
                  <a:srgbClr val="2563EB"/>
                </a:solidFill>
                <a:latin typeface="Montserrat"/>
              </a:rPr>
              <a:t>Архитектура и обработка: микросервисы, Kafka 850 000 событий/сек, Airf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925300" y="1587500"/>
            <a:ext cx="3492500" cy="2768600"/>
          </a:xfrm>
          <a:prstGeom prst="roundRect">
            <a:avLst>
              <a:gd name="adj" fmla="val 3669"/>
            </a:avLst>
          </a:prstGeom>
          <a:solidFill>
            <a:srgbClr val="F5F8FE"/>
          </a:solidFill>
          <a:ln>
            <a:noFill/>
          </a:ln>
          <a:effectLst>
            <a:outerShdw blurRad="25400" dir="5400000" dist="127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268200" y="2603500"/>
            <a:ext cx="28321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800" b="1">
                <a:solidFill>
                  <a:srgbClr val="2563EB"/>
                </a:solidFill>
                <a:latin typeface="Montserrat"/>
              </a:defRPr>
            </a:pPr>
            <a:r>
              <a:rPr i="0" sz="1800" b="1">
                <a:solidFill>
                  <a:srgbClr val="2563EB"/>
                </a:solidFill>
                <a:latin typeface="Montserrat"/>
              </a:rPr>
              <a:t>Технологический стек.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474700" y="3009900"/>
            <a:ext cx="406400" cy="50800"/>
          </a:xfrm>
          <a:prstGeom prst="roundRect">
            <a:avLst>
              <a:gd name="adj" fmla="val 2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7700" y="3162300"/>
            <a:ext cx="32131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200" b="0">
                <a:solidFill>
                  <a:srgbClr val="2563EB"/>
                </a:solidFill>
                <a:latin typeface="Montserrat"/>
              </a:defRPr>
            </a:pPr>
            <a:r>
              <a:rPr i="0" sz="1200" b="0">
                <a:solidFill>
                  <a:srgbClr val="2563EB"/>
                </a:solidFill>
                <a:latin typeface="Montserrat"/>
              </a:rPr>
              <a:t>Микросервисы, Kafka: 850 000 событий/сек, Airflow 320 DAG, 47 конн.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546600"/>
            <a:ext cx="3492500" cy="2197100"/>
          </a:xfrm>
          <a:prstGeom prst="roundRect">
            <a:avLst>
              <a:gd name="adj" fmla="val 4624"/>
            </a:avLst>
          </a:prstGeom>
          <a:solidFill>
            <a:srgbClr val="F5F8FE"/>
          </a:solidFill>
          <a:ln>
            <a:noFill/>
          </a:ln>
          <a:effectLst>
            <a:outerShdw blurRad="25400" dir="5400000" dist="127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94800" y="5562600"/>
            <a:ext cx="15875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800" b="1">
                <a:solidFill>
                  <a:srgbClr val="2563EB"/>
                </a:solidFill>
                <a:latin typeface="Montserrat"/>
              </a:defRPr>
            </a:pPr>
            <a:r>
              <a:rPr i="0" sz="1800" b="1">
                <a:solidFill>
                  <a:srgbClr val="2563EB"/>
                </a:solidFill>
                <a:latin typeface="Montserrat"/>
              </a:rPr>
              <a:t>Data science.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79000" y="5969000"/>
            <a:ext cx="406400" cy="50800"/>
          </a:xfrm>
          <a:prstGeom prst="roundRect">
            <a:avLst>
              <a:gd name="adj" fmla="val 2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0" y="6121400"/>
            <a:ext cx="32131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200" b="0">
                <a:solidFill>
                  <a:srgbClr val="2563EB"/>
                </a:solidFill>
                <a:latin typeface="Montserrat"/>
              </a:defRPr>
            </a:pPr>
            <a:r>
              <a:rPr i="0" sz="1200" b="0">
                <a:solidFill>
                  <a:srgbClr val="2563EB"/>
                </a:solidFill>
                <a:latin typeface="Montserrat"/>
              </a:rPr>
              <a:t>Хранение – MinIO Data Lake. ML: LightGBM/TFT MAPE 4,7 %, CatBoost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400" y="9067800"/>
            <a:ext cx="16205200" cy="50800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889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TechCorp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44700" y="406400"/>
            <a:ext cx="1028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2026-02-25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485900"/>
            <a:ext cx="65151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6000" b="1">
                <a:solidFill>
                  <a:srgbClr val="2563EB"/>
                </a:solidFill>
                <a:latin typeface="Montserrat"/>
              </a:defRPr>
            </a:pPr>
            <a:r>
              <a:rPr i="0" sz="6000" b="1">
                <a:solidFill>
                  <a:srgbClr val="2563EB"/>
                </a:solidFill>
                <a:latin typeface="Montserrat"/>
              </a:rPr>
              <a:t>Рост и эффективность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3594100"/>
            <a:ext cx="6489700" cy="3657600"/>
          </a:xfrm>
          <a:prstGeom prst="roundRect">
            <a:avLst>
              <a:gd name="adj" fmla="val 2777"/>
            </a:avLst>
          </a:prstGeom>
          <a:solidFill>
            <a:srgbClr val="FFFFFF"/>
          </a:solidFill>
          <a:ln>
            <a:noFill/>
          </a:ln>
          <a:effectLst>
            <a:outerShdw blurRad="25400" dir="5400000" dist="127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6" name="Picture 5" descr="e85ca1f3-48d3-4dfa-823b-a210c2dee7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97300"/>
            <a:ext cx="6083300" cy="3251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87500" y="6350000"/>
            <a:ext cx="5334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6700" y="6350000"/>
            <a:ext cx="5207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6184900"/>
            <a:ext cx="1651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5575300"/>
            <a:ext cx="1397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2900" y="4965700"/>
            <a:ext cx="1524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2900" y="4356100"/>
            <a:ext cx="1524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49400" y="3835400"/>
            <a:ext cx="2159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12</a:t>
            </a:r>
          </a:p>
        </p:txBody>
      </p:sp>
      <p:pic>
        <p:nvPicPr>
          <p:cNvPr id="14" name="Picture 13" descr="205b15f3-354f-4bf3-8311-a38e814519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900" y="675640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365500" y="6705600"/>
            <a:ext cx="5715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1">
                <a:solidFill>
                  <a:srgbClr val="1E4CD9"/>
                </a:solidFill>
                <a:latin typeface="Montserrat"/>
              </a:defRPr>
            </a:pPr>
            <a:r>
              <a:rPr i="0" sz="1600" b="1">
                <a:solidFill>
                  <a:srgbClr val="1E4CD9"/>
                </a:solidFill>
                <a:latin typeface="Montserrat"/>
              </a:rPr>
              <a:t>Sales</a:t>
            </a:r>
          </a:p>
        </p:txBody>
      </p:sp>
      <p:pic>
        <p:nvPicPr>
          <p:cNvPr id="16" name="Picture 15" descr="d64c3d1a-ed5e-41e4-82f8-bf87bf520b7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600" y="6756400"/>
            <a:ext cx="177800" cy="177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267200" y="6705600"/>
            <a:ext cx="6096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1">
                <a:solidFill>
                  <a:srgbClr val="3B82F6"/>
                </a:solidFill>
                <a:latin typeface="Montserrat"/>
              </a:defRPr>
            </a:pPr>
            <a:r>
              <a:rPr i="0" sz="1600" b="1">
                <a:solidFill>
                  <a:srgbClr val="3B82F6"/>
                </a:solidFill>
                <a:latin typeface="Montserrat"/>
              </a:rPr>
              <a:t>Profit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68500" y="3924300"/>
            <a:ext cx="749300" cy="558800"/>
          </a:xfrm>
          <a:prstGeom prst="roundRect">
            <a:avLst>
              <a:gd name="adj" fmla="val 18181"/>
            </a:avLst>
          </a:prstGeom>
          <a:solidFill>
            <a:srgbClr val="1E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95500" y="4051300"/>
            <a:ext cx="5207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Montserrat"/>
              </a:defRPr>
            </a:pPr>
            <a:r>
              <a:rPr i="0" sz="1600" b="0">
                <a:solidFill>
                  <a:srgbClr val="FFFFFF"/>
                </a:solidFill>
                <a:latin typeface="Montserrat"/>
              </a:rPr>
              <a:t>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8500" y="2959100"/>
            <a:ext cx="7150100" cy="99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3000"/>
              </a:lnSpc>
              <a:defRPr i="0" sz="1600" b="0">
                <a:solidFill>
                  <a:srgbClr val="2563EB"/>
                </a:solidFill>
                <a:latin typeface="Montserrat"/>
              </a:defRPr>
            </a:pPr>
            <a:r>
              <a:rPr i="0" sz="1600" b="0">
                <a:solidFill>
                  <a:srgbClr val="2563EB"/>
                </a:solidFill>
                <a:latin typeface="Montserrat"/>
              </a:rPr>
              <a:t>Точность спроса выросла с 72 % до 91,3 %; Out‑of‑stock снизился с 8,4 % до 3,1 %; время отчёта сократилось с 4,5 ч до 12 мин; экономический эффект – 14,2 млрд руб./год, ROI 340 %.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18500" y="4660900"/>
            <a:ext cx="3416300" cy="1511300"/>
          </a:xfrm>
          <a:prstGeom prst="roundRect">
            <a:avLst>
              <a:gd name="adj" fmla="val 6722"/>
            </a:avLst>
          </a:prstGeom>
          <a:solidFill>
            <a:srgbClr val="F5F8FF"/>
          </a:solidFill>
          <a:ln>
            <a:noFill/>
          </a:ln>
          <a:effectLst>
            <a:outerShdw blurRad="25400" dir="540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72500" y="4864100"/>
            <a:ext cx="711200" cy="304800"/>
          </a:xfrm>
          <a:prstGeom prst="roundRect">
            <a:avLst>
              <a:gd name="adj" fmla="val 16666"/>
            </a:avLst>
          </a:prstGeom>
          <a:solidFill>
            <a:srgbClr val="1E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24900" y="49149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FFFFFF"/>
                </a:solidFill>
                <a:latin typeface="Montserrat"/>
              </a:defRPr>
            </a:pPr>
            <a:r>
              <a:rPr i="0" sz="1200" b="1">
                <a:solidFill>
                  <a:srgbClr val="FFFFFF"/>
                </a:solidFill>
                <a:latin typeface="Montserrat"/>
              </a:rPr>
              <a:t>Sales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0" y="5270500"/>
            <a:ext cx="21082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400" b="1">
                <a:solidFill>
                  <a:srgbClr val="1E4CD9"/>
                </a:solidFill>
                <a:latin typeface="Montserrat"/>
              </a:defRPr>
            </a:pPr>
            <a:r>
              <a:rPr i="0" sz="2400" b="1">
                <a:solidFill>
                  <a:srgbClr val="1E4CD9"/>
                </a:solidFill>
                <a:latin typeface="Montserrat"/>
              </a:rPr>
              <a:t>+20%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2500" y="5727700"/>
            <a:ext cx="26162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374151"/>
                </a:solidFill>
                <a:latin typeface="Montserrat"/>
              </a:defRPr>
            </a:pPr>
            <a:r>
              <a:rPr i="0" sz="1400" b="0">
                <a:solidFill>
                  <a:srgbClr val="374151"/>
                </a:solidFill>
                <a:latin typeface="Montserrat"/>
              </a:rPr>
              <a:t>Sales growth over the period.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026900" y="4660900"/>
            <a:ext cx="3416300" cy="1511300"/>
          </a:xfrm>
          <a:prstGeom prst="roundRect">
            <a:avLst>
              <a:gd name="adj" fmla="val 6722"/>
            </a:avLst>
          </a:prstGeom>
          <a:solidFill>
            <a:srgbClr val="F5F8FF"/>
          </a:solidFill>
          <a:ln>
            <a:noFill/>
          </a:ln>
          <a:effectLst>
            <a:outerShdw blurRad="25400" dir="540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2280900" y="4864100"/>
            <a:ext cx="736600" cy="304800"/>
          </a:xfrm>
          <a:prstGeom prst="roundRect">
            <a:avLst>
              <a:gd name="adj" fmla="val 16666"/>
            </a:avLst>
          </a:prstGeom>
          <a:solidFill>
            <a:srgbClr val="1E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433300" y="4914900"/>
            <a:ext cx="457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FFFFFF"/>
                </a:solidFill>
                <a:latin typeface="Montserrat"/>
              </a:defRPr>
            </a:pPr>
            <a:r>
              <a:rPr i="0" sz="1200" b="1">
                <a:solidFill>
                  <a:srgbClr val="FFFFFF"/>
                </a:solidFill>
                <a:latin typeface="Montserrat"/>
              </a:rPr>
              <a:t>Profit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80900" y="5270500"/>
            <a:ext cx="21209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400" b="1">
                <a:solidFill>
                  <a:srgbClr val="1E4CD9"/>
                </a:solidFill>
                <a:latin typeface="Montserrat"/>
              </a:defRPr>
            </a:pPr>
            <a:r>
              <a:rPr i="0" sz="2400" b="1">
                <a:solidFill>
                  <a:srgbClr val="1E4CD9"/>
                </a:solidFill>
                <a:latin typeface="Montserrat"/>
              </a:rPr>
              <a:t>+50% growth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80900" y="5727700"/>
            <a:ext cx="26416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374151"/>
                </a:solidFill>
                <a:latin typeface="Montserrat"/>
              </a:defRPr>
            </a:pPr>
            <a:r>
              <a:rPr i="0" sz="1400" b="0">
                <a:solidFill>
                  <a:srgbClr val="374151"/>
                </a:solidFill>
                <a:latin typeface="Montserrat"/>
              </a:rPr>
              <a:t>Profit growth over the period.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0" y="9093200"/>
            <a:ext cx="16256000" cy="50800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184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Команда и бюджет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982700" y="406400"/>
            <a:ext cx="1790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2026-02-25 13:40:37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9093200"/>
            <a:ext cx="16256000" cy="50800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1549400"/>
            <a:ext cx="86233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7200" b="1">
                <a:solidFill>
                  <a:srgbClr val="2563EB"/>
                </a:solidFill>
                <a:latin typeface="Montserrat"/>
              </a:defRPr>
            </a:pPr>
            <a:r>
              <a:rPr i="0" sz="7200" b="1">
                <a:solidFill>
                  <a:srgbClr val="2563EB"/>
                </a:solidFill>
                <a:latin typeface="Montserrat"/>
              </a:rPr>
              <a:t>Команда &amp; Бюджт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2895600"/>
            <a:ext cx="36830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1800" b="0">
                <a:solidFill>
                  <a:srgbClr val="2563EB"/>
                </a:solidFill>
                <a:latin typeface="Montserrat"/>
              </a:defRPr>
            </a:pPr>
            <a:r>
              <a:rPr i="0" sz="1800" b="0">
                <a:solidFill>
                  <a:srgbClr val="2563EB"/>
                </a:solidFill>
                <a:latin typeface="Montserrat"/>
              </a:rPr>
              <a:t>84 специалиста, 1,86 млрд руб.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25600" y="3987800"/>
            <a:ext cx="3048000" cy="43180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>
            <a:noFill/>
          </a:ln>
          <a:effectLst>
            <a:outerShdw blurRad="76200" dir="540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38400" y="4292600"/>
            <a:ext cx="1422400" cy="1422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DBEAFE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9" name="Picture 8" descr="7b25a828-c71e-4f24-9d24-ec3b8d3e0d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800" y="4318000"/>
            <a:ext cx="1371600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30500" y="5918200"/>
            <a:ext cx="8636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1D4ED8"/>
                </a:solidFill>
                <a:latin typeface="Montserrat"/>
              </a:defRPr>
            </a:pPr>
            <a:r>
              <a:rPr i="0" sz="1800" b="1">
                <a:solidFill>
                  <a:srgbClr val="1D4ED8"/>
                </a:solidFill>
                <a:latin typeface="Montserrat"/>
              </a:rPr>
              <a:t>Инфра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90800" y="6324600"/>
            <a:ext cx="1130300" cy="304800"/>
          </a:xfrm>
          <a:prstGeom prst="roundRect">
            <a:avLst>
              <a:gd name="adj" fmla="val 16666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6375400"/>
            <a:ext cx="8509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FFFFFF"/>
                </a:solidFill>
                <a:latin typeface="Montserrat"/>
              </a:defRPr>
            </a:pPr>
            <a:r>
              <a:rPr i="0" sz="1200" b="1">
                <a:solidFill>
                  <a:srgbClr val="FFFFFF"/>
                </a:solidFill>
                <a:latin typeface="Montserrat"/>
              </a:rPr>
              <a:t>ресурсы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71700" y="6731000"/>
            <a:ext cx="1981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374151"/>
                </a:solidFill>
                <a:latin typeface="Montserrat"/>
              </a:defRPr>
            </a:pPr>
            <a:r>
              <a:rPr i="0" sz="1400" b="0">
                <a:solidFill>
                  <a:srgbClr val="374151"/>
                </a:solidFill>
                <a:latin typeface="Montserrat"/>
              </a:rPr>
              <a:t>Инфра – 720 млн руб.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4000" y="3987800"/>
            <a:ext cx="3048000" cy="43180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>
            <a:noFill/>
          </a:ln>
          <a:effectLst>
            <a:outerShdw blurRad="76200" dir="540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6800" y="4292600"/>
            <a:ext cx="1422400" cy="1422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DBEAFE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6" name="Picture 15" descr="7b25a828-c71e-4f24-9d24-ec3b8d3e0d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2200" y="4318000"/>
            <a:ext cx="1371600" cy="1371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16800" y="5918200"/>
            <a:ext cx="14478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1D4ED8"/>
                </a:solidFill>
                <a:latin typeface="Montserrat"/>
              </a:defRPr>
            </a:pPr>
            <a:r>
              <a:rPr i="0" sz="1800" b="1">
                <a:solidFill>
                  <a:srgbClr val="1D4ED8"/>
                </a:solidFill>
                <a:latin typeface="Montserrat"/>
              </a:rPr>
              <a:t>Разработка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7400" y="6324600"/>
            <a:ext cx="1968500" cy="304800"/>
          </a:xfrm>
          <a:prstGeom prst="roundRect">
            <a:avLst>
              <a:gd name="adj" fmla="val 16666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9800" y="6375400"/>
            <a:ext cx="16891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FFFFFF"/>
                </a:solidFill>
                <a:latin typeface="Montserrat"/>
              </a:defRPr>
            </a:pPr>
            <a:r>
              <a:rPr i="0" sz="1200" b="1">
                <a:solidFill>
                  <a:srgbClr val="FFFFFF"/>
                </a:solidFill>
                <a:latin typeface="Montserrat"/>
              </a:rPr>
              <a:t>проектирование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1500" y="6731000"/>
            <a:ext cx="2425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374151"/>
                </a:solidFill>
                <a:latin typeface="Montserrat"/>
              </a:defRPr>
            </a:pPr>
            <a:r>
              <a:rPr i="0" sz="1400" b="0">
                <a:solidFill>
                  <a:srgbClr val="374151"/>
                </a:solidFill>
                <a:latin typeface="Montserrat"/>
              </a:rPr>
              <a:t>Разработка – 640 млн руб.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582400" y="3987800"/>
            <a:ext cx="3048000" cy="43180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>
            <a:noFill/>
          </a:ln>
          <a:effectLst>
            <a:outerShdw blurRad="76200" dir="540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395200" y="4292600"/>
            <a:ext cx="1422400" cy="1422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DBEAFE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3" name="Picture 22" descr="7b25a828-c71e-4f24-9d24-ec3b8d3e0d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4318000"/>
            <a:ext cx="1371600" cy="1371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471400" y="5918200"/>
            <a:ext cx="1295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1D4ED8"/>
                </a:solidFill>
                <a:latin typeface="Montserrat"/>
              </a:defRPr>
            </a:pPr>
            <a:r>
              <a:rPr i="0" sz="1800" b="1">
                <a:solidFill>
                  <a:srgbClr val="1D4ED8"/>
                </a:solidFill>
                <a:latin typeface="Montserrat"/>
              </a:rPr>
              <a:t>Лицензии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0" y="6324600"/>
            <a:ext cx="2438400" cy="5080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39600" y="6375400"/>
            <a:ext cx="21590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FFFFFF"/>
                </a:solidFill>
                <a:latin typeface="Montserrat"/>
              </a:defRPr>
            </a:pPr>
            <a:r>
              <a:rPr i="0" sz="1200" b="1">
                <a:solidFill>
                  <a:srgbClr val="FFFFFF"/>
                </a:solidFill>
                <a:latin typeface="Montserrat"/>
              </a:rPr>
              <a:t>правовые требования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76100" y="6934200"/>
            <a:ext cx="2298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374151"/>
                </a:solidFill>
                <a:latin typeface="Montserrat"/>
              </a:defRPr>
            </a:pPr>
            <a:r>
              <a:rPr i="0" sz="1400" b="0">
                <a:solidFill>
                  <a:srgbClr val="374151"/>
                </a:solidFill>
                <a:latin typeface="Montserrat"/>
              </a:rPr>
              <a:t>Лицензии – 320 млн руб.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