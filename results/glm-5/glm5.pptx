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РетейлГрупп — один из крупнейших ритейлеров России с сетью из 2400 магазинов в 78 регионах. Ежегодный оборот компании составляет 680 миллиардов рублей, а ежедневно проходит 12 миллионов транзакций. При таком масштабе критически важно иметь единую асп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слое сбора данных платформа DataPulse обрабатывает 850 тысяч событий в секунду через Apache Kafka. Apache Airflow управляет 320 активными DAG процессами. Инфраструктура включает 47 внутренних коннекторов с ежедневным приростом данных 2.8 терабайта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 9 месяцев внедрения системы точность прогнозирования спроса увеличилась на 19,3 процентных пункта — с 72% до 91,3%. Это ключевой показатель эффективности проекта, демонстрирующий существенное улучшение качества прогнозов.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Проект обеспечен необходимыми ресурсами для успешной реализации. Команда из 84 специалистов обладает всеми компетенциями для выполнения задач. Общий бюджет составляет 1,86 миллиарда рублей, при этом инфраструктура — основная статья расходов.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257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FFFFFF"/>
                </a:solidFill>
                <a:latin typeface="Montserrat"/>
              </a:defRPr>
            </a:pPr>
            <a:r>
              <a:rPr i="0" sz="1400" b="1">
                <a:solidFill>
                  <a:srgbClr val="FFFFFF"/>
                </a:solidFill>
                <a:latin typeface="Montserrat"/>
              </a:rPr>
              <a:t>РетейлГрупп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85900" y="4064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FFFFFF"/>
                </a:solidFill>
                <a:latin typeface="Montserrat"/>
              </a:defRPr>
            </a:pPr>
            <a:r>
              <a:rPr i="0" sz="1400" b="1">
                <a:solidFill>
                  <a:srgbClr val="FFFFFF"/>
                </a:solidFill>
                <a:latin typeface="Montserrat"/>
              </a:rPr>
              <a:t>25 февраля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159000"/>
            <a:ext cx="652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4800" b="1">
                <a:solidFill>
                  <a:srgbClr val="FFFFFF"/>
                </a:solidFill>
                <a:latin typeface="Montserrat"/>
              </a:defRPr>
            </a:pPr>
            <a:r>
              <a:rPr i="0" sz="4800" b="1">
                <a:solidFill>
                  <a:srgbClr val="FFFFFF"/>
                </a:solidFill>
                <a:latin typeface="Montserrat"/>
              </a:rPr>
              <a:t>Контекст и 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4089400"/>
            <a:ext cx="6527800" cy="148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3000"/>
              </a:lnSpc>
              <a:defRPr i="0" sz="1800" b="0">
                <a:solidFill>
                  <a:srgbClr val="FFFFFF"/>
                </a:solidFill>
                <a:latin typeface="Montserrat"/>
              </a:defRPr>
            </a:pPr>
            <a:r>
              <a:rPr i="0" sz="1800" b="1">
                <a:solidFill>
                  <a:srgbClr val="FFFFFF"/>
                </a:solidFill>
                <a:latin typeface="Montserrat"/>
              </a:rPr>
              <a:t>Масштаб бизнеса:</a:t>
            </a:r>
            <a:r>
              <a:rPr i="0" sz="1800" b="0">
                <a:solidFill>
                  <a:srgbClr val="FFFFFF"/>
                </a:solidFill>
                <a:latin typeface="Montserrat"/>
              </a:rPr>
              <a:t> 2 400 магазинов в 78 регионах, оборот 680 млрд руб., 12 млн транзакций ежедневно. </a:t>
            </a:r>
            <a:r>
              <a:rPr i="0" sz="1800" b="1">
                <a:solidFill>
                  <a:srgbClr val="FFFFFF"/>
                </a:solidFill>
                <a:latin typeface="Montserrat"/>
              </a:rPr>
              <a:t>Ключевая проблема:</a:t>
            </a:r>
            <a:r>
              <a:rPr i="0" sz="1800" b="0">
                <a:solidFill>
                  <a:srgbClr val="FFFFFF"/>
                </a:solidFill>
                <a:latin typeface="Montserrat"/>
              </a:rPr>
              <a:t> 14 разрозненных аналитических систем.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40800" y="2476500"/>
            <a:ext cx="6502400" cy="1498600"/>
          </a:xfrm>
          <a:prstGeom prst="roundRect">
            <a:avLst>
              <a:gd name="adj" fmla="val 6779"/>
            </a:avLst>
          </a:prstGeom>
          <a:solidFill>
            <a:srgbClr val="FFFFFF">
              <a:alpha val="5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48800" y="2730500"/>
            <a:ext cx="571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FFFFFF"/>
                </a:solidFill>
                <a:latin typeface="Montserrat"/>
              </a:defRPr>
            </a:pPr>
            <a:r>
              <a:rPr i="0" sz="2000" b="1">
                <a:solidFill>
                  <a:srgbClr val="FFFFFF"/>
                </a:solidFill>
                <a:latin typeface="Montserrat"/>
              </a:rPr>
              <a:t>Масштаб бизнеса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8800" y="3136900"/>
            <a:ext cx="57150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1400" b="0">
                <a:solidFill>
                  <a:srgbClr val="DBEAFE"/>
                </a:solidFill>
                <a:latin typeface="Montserrat"/>
              </a:defRPr>
            </a:pPr>
            <a:r>
              <a:rPr i="0" sz="1400" b="0">
                <a:solidFill>
                  <a:srgbClr val="DBEAFE"/>
                </a:solidFill>
                <a:latin typeface="Montserrat"/>
              </a:rPr>
              <a:t>2 400 магазинов • 78 регионов • 680 млрд руб. оборот • 12 млн транзакций/день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0800" y="4368800"/>
            <a:ext cx="6502400" cy="1498600"/>
          </a:xfrm>
          <a:prstGeom prst="roundRect">
            <a:avLst>
              <a:gd name="adj" fmla="val 6779"/>
            </a:avLst>
          </a:prstGeom>
          <a:solidFill>
            <a:srgbClr val="FFFFFF">
              <a:alpha val="5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48800" y="4622800"/>
            <a:ext cx="571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FFFFFF"/>
                </a:solidFill>
                <a:latin typeface="Montserrat"/>
              </a:defRPr>
            </a:pPr>
            <a:r>
              <a:rPr i="0" sz="2000" b="1">
                <a:solidFill>
                  <a:srgbClr val="FFFFFF"/>
                </a:solidFill>
                <a:latin typeface="Montserrat"/>
              </a:rPr>
              <a:t>Проблема инфраструктуры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800" y="5029200"/>
            <a:ext cx="57150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1400" b="0">
                <a:solidFill>
                  <a:srgbClr val="DBEAFE"/>
                </a:solidFill>
                <a:latin typeface="Montserrat"/>
              </a:defRPr>
            </a:pPr>
            <a:r>
              <a:rPr i="0" sz="1400" b="0">
                <a:solidFill>
                  <a:srgbClr val="DBEAFE"/>
                </a:solidFill>
                <a:latin typeface="Montserrat"/>
              </a:rPr>
              <a:t>14 разрозненных аналитических систем создают информационный хаос и замедляют принятие решений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431800"/>
            <a:ext cx="965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DataPulse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60500" y="4318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25 февраля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413000"/>
            <a:ext cx="72136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6000" b="1">
                <a:solidFill>
                  <a:srgbClr val="2563EB"/>
                </a:solidFill>
                <a:latin typeface="Montserrat"/>
              </a:defRPr>
            </a:pPr>
            <a:r>
              <a:rPr i="0" sz="6000" b="1">
                <a:solidFill>
                  <a:srgbClr val="2563EB"/>
                </a:solidFill>
                <a:latin typeface="Montserrat"/>
              </a:rPr>
              <a:t>Архитектура платформы «Дэ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724400"/>
            <a:ext cx="23495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1800" b="0">
                <a:solidFill>
                  <a:srgbClr val="2563EB"/>
                </a:solidFill>
                <a:latin typeface="Montserrat"/>
              </a:defRPr>
            </a:pPr>
            <a:r>
              <a:rPr i="0" sz="1800" b="0">
                <a:solidFill>
                  <a:srgbClr val="2563EB"/>
                </a:solidFill>
                <a:latin typeface="Montserrat"/>
              </a:rPr>
              <a:t>Слой сбора данных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727200"/>
            <a:ext cx="3492500" cy="2349500"/>
          </a:xfrm>
          <a:prstGeom prst="roundRect">
            <a:avLst>
              <a:gd name="adj" fmla="val 4324"/>
            </a:avLst>
          </a:prstGeom>
          <a:solidFill>
            <a:srgbClr val="F5F8FE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0" y="2743200"/>
            <a:ext cx="32131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800" b="1">
                <a:solidFill>
                  <a:srgbClr val="2563EB"/>
                </a:solidFill>
                <a:latin typeface="Montserrat"/>
              </a:defRPr>
            </a:pPr>
            <a:r>
              <a:rPr i="0" sz="1800" b="1">
                <a:solidFill>
                  <a:srgbClr val="2563EB"/>
                </a:solidFill>
                <a:latin typeface="Montserrat"/>
              </a:rPr>
              <a:t>Производительность инфраструк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79000" y="3505200"/>
            <a:ext cx="406400" cy="508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74100" y="3657600"/>
            <a:ext cx="26416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200" b="0">
                <a:solidFill>
                  <a:srgbClr val="2563EB"/>
                </a:solidFill>
                <a:latin typeface="Montserrat"/>
              </a:defRPr>
            </a:pPr>
            <a:r>
              <a:rPr i="0" sz="1200" b="1">
                <a:solidFill>
                  <a:srgbClr val="2563EB"/>
                </a:solidFill>
                <a:latin typeface="Montserrat"/>
              </a:rPr>
              <a:t>Apache Kafka</a:t>
            </a:r>
            <a:r>
              <a:rPr i="0" sz="1200" b="0">
                <a:solidFill>
                  <a:srgbClr val="2563EB"/>
                </a:solidFill>
                <a:latin typeface="Montserrat"/>
              </a:rPr>
              <a:t>: 850K событий/сек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925300" y="1727200"/>
            <a:ext cx="3492500" cy="2349500"/>
          </a:xfrm>
          <a:prstGeom prst="roundRect">
            <a:avLst>
              <a:gd name="adj" fmla="val 4324"/>
            </a:avLst>
          </a:prstGeom>
          <a:solidFill>
            <a:srgbClr val="F5F8FE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6600" y="27432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800" b="1">
                <a:solidFill>
                  <a:srgbClr val="2563EB"/>
                </a:solidFill>
                <a:latin typeface="Montserrat"/>
              </a:defRPr>
            </a:pPr>
            <a:r>
              <a:rPr i="0" sz="1800" b="1">
                <a:solidFill>
                  <a:srgbClr val="2563EB"/>
                </a:solidFill>
                <a:latin typeface="Montserrat"/>
              </a:rPr>
              <a:t>Оркестрация процессов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74700" y="3149600"/>
            <a:ext cx="406400" cy="508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93600" y="3302000"/>
            <a:ext cx="27686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200" b="0">
                <a:solidFill>
                  <a:srgbClr val="2563EB"/>
                </a:solidFill>
                <a:latin typeface="Montserrat"/>
              </a:defRPr>
            </a:pPr>
            <a:r>
              <a:rPr i="0" sz="1200" b="1">
                <a:solidFill>
                  <a:srgbClr val="2563EB"/>
                </a:solidFill>
                <a:latin typeface="Montserrat"/>
              </a:rPr>
              <a:t>Apache Airflow</a:t>
            </a:r>
            <a:r>
              <a:rPr i="0" sz="1200" b="0">
                <a:solidFill>
                  <a:srgbClr val="2563EB"/>
                </a:solidFill>
                <a:latin typeface="Montserrat"/>
              </a:rPr>
              <a:t>: 320 DAG активных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267200"/>
            <a:ext cx="3492500" cy="2349500"/>
          </a:xfrm>
          <a:prstGeom prst="roundRect">
            <a:avLst>
              <a:gd name="adj" fmla="val 4324"/>
            </a:avLst>
          </a:prstGeom>
          <a:solidFill>
            <a:srgbClr val="F5F8FE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5283200"/>
            <a:ext cx="32131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800" b="1">
                <a:solidFill>
                  <a:srgbClr val="2563EB"/>
                </a:solidFill>
                <a:latin typeface="Montserrat"/>
              </a:defRPr>
            </a:pPr>
            <a:r>
              <a:rPr i="0" sz="1800" b="1">
                <a:solidFill>
                  <a:srgbClr val="2563EB"/>
                </a:solidFill>
                <a:latin typeface="Montserrat"/>
              </a:rPr>
              <a:t>Интеграционные возможности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79000" y="6045200"/>
            <a:ext cx="406400" cy="508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0100" y="6197600"/>
            <a:ext cx="31496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200" b="0">
                <a:solidFill>
                  <a:srgbClr val="2563EB"/>
                </a:solidFill>
                <a:latin typeface="Montserrat"/>
              </a:defRPr>
            </a:pPr>
            <a:r>
              <a:rPr i="0" sz="1200" b="1">
                <a:solidFill>
                  <a:srgbClr val="2563EB"/>
                </a:solidFill>
                <a:latin typeface="Montserrat"/>
              </a:rPr>
              <a:t>47 коннекторов</a:t>
            </a:r>
            <a:r>
              <a:rPr i="0" sz="1200" b="0">
                <a:solidFill>
                  <a:srgbClr val="2563EB"/>
                </a:solidFill>
                <a:latin typeface="Montserrat"/>
              </a:rPr>
              <a:t> • Прирост </a:t>
            </a:r>
            <a:r>
              <a:rPr i="0" sz="1200" b="1">
                <a:solidFill>
                  <a:srgbClr val="2563EB"/>
                </a:solidFill>
                <a:latin typeface="Montserrat"/>
              </a:rPr>
              <a:t>2.8 ТБ/день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400" y="9067800"/>
            <a:ext cx="162052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336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Результаты внедрения (9 месяцев)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31700" y="406400"/>
            <a:ext cx="3441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Ключевые метрики эффективности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016000"/>
            <a:ext cx="60325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defRPr i="0" sz="6000" b="1">
                <a:solidFill>
                  <a:srgbClr val="2563EB"/>
                </a:solidFill>
                <a:latin typeface="Montserrat"/>
              </a:defRPr>
            </a:pPr>
            <a:r>
              <a:rPr i="0" sz="6000" b="1">
                <a:solidFill>
                  <a:srgbClr val="2563EB"/>
                </a:solidFill>
                <a:latin typeface="Montserrat"/>
              </a:rPr>
              <a:t>Точность прогноза спроса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4076700"/>
            <a:ext cx="6007100" cy="3657600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" name="Picture 5" descr="1483cfc3-8675-4e25-a47e-a6a26d9c8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4279900"/>
            <a:ext cx="5600700" cy="3251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5700" y="6832600"/>
            <a:ext cx="13843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Результат за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7700" y="6832600"/>
            <a:ext cx="23114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Точность выросла 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6654800"/>
            <a:ext cx="1651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6045200"/>
            <a:ext cx="1397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0" y="5435600"/>
            <a:ext cx="2413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9400" y="4826000"/>
            <a:ext cx="2159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5900" y="4305300"/>
            <a:ext cx="2794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20</a:t>
            </a:r>
          </a:p>
        </p:txBody>
      </p:sp>
      <p:pic>
        <p:nvPicPr>
          <p:cNvPr id="14" name="Picture 13" descr="e0184d4b-847d-482f-8f76-8c70d7f1249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9300" y="722630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47900" y="7188200"/>
            <a:ext cx="889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1E4CD9"/>
                </a:solidFill>
                <a:latin typeface="Montserrat"/>
              </a:defRPr>
            </a:pPr>
            <a:r>
              <a:rPr i="0" sz="1600" b="1">
                <a:solidFill>
                  <a:srgbClr val="1E4CD9"/>
                </a:solidFill>
                <a:latin typeface="Montserrat"/>
              </a:rPr>
              <a:t>Amount</a:t>
            </a:r>
          </a:p>
        </p:txBody>
      </p:sp>
      <p:pic>
        <p:nvPicPr>
          <p:cNvPr id="16" name="Picture 15" descr="39561a55-9011-4ffe-a88d-5d647645c3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7226300"/>
            <a:ext cx="177800" cy="177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67100" y="7188200"/>
            <a:ext cx="4699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3B82F6"/>
                </a:solidFill>
                <a:latin typeface="Montserrat"/>
              </a:defRPr>
            </a:pPr>
            <a:r>
              <a:rPr i="0" sz="1600" b="1">
                <a:solidFill>
                  <a:srgbClr val="3B82F6"/>
                </a:solidFill>
                <a:latin typeface="Montserrat"/>
              </a:rPr>
              <a:t>Unit</a:t>
            </a:r>
          </a:p>
        </p:txBody>
      </p:sp>
      <p:pic>
        <p:nvPicPr>
          <p:cNvPr id="18" name="Picture 17" descr="235167f0-257f-4fe7-b82f-6fa80c6964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8600" y="722630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67200" y="7188200"/>
            <a:ext cx="12446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F59E0B"/>
                </a:solidFill>
                <a:latin typeface="Montserrat"/>
              </a:defRPr>
            </a:pPr>
            <a:r>
              <a:rPr i="0" sz="1600" b="1">
                <a:solidFill>
                  <a:srgbClr val="F59E0B"/>
                </a:solidFill>
                <a:latin typeface="Montserrat"/>
              </a:rPr>
              <a:t>Description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1500" y="4406900"/>
            <a:ext cx="254000" cy="254000"/>
          </a:xfrm>
          <a:prstGeom prst="roundRect">
            <a:avLst>
              <a:gd name="adj" fmla="val 40000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35900" y="2971800"/>
            <a:ext cx="52578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1600" b="0">
                <a:solidFill>
                  <a:srgbClr val="2563EB"/>
                </a:solidFill>
                <a:latin typeface="Montserrat"/>
              </a:defRPr>
            </a:pPr>
            <a:r>
              <a:rPr i="0" sz="1600" b="1">
                <a:solidFill>
                  <a:srgbClr val="2563EB"/>
                </a:solidFill>
                <a:latin typeface="Montserrat"/>
              </a:rPr>
              <a:t>До внедрения:</a:t>
            </a:r>
            <a:r>
              <a:rPr i="0" sz="1600" b="0">
                <a:solidFill>
                  <a:srgbClr val="2563EB"/>
                </a:solidFill>
                <a:latin typeface="Montserrat"/>
              </a:rPr>
              <a:t> 72% | </a:t>
            </a:r>
            <a:r>
              <a:rPr i="0" sz="1600" b="1">
                <a:solidFill>
                  <a:srgbClr val="2563EB"/>
                </a:solidFill>
                <a:latin typeface="Montserrat"/>
              </a:rPr>
              <a:t>После:</a:t>
            </a:r>
            <a:r>
              <a:rPr i="0" sz="1600" b="0">
                <a:solidFill>
                  <a:srgbClr val="2563EB"/>
                </a:solidFill>
                <a:latin typeface="Montserrat"/>
              </a:rPr>
              <a:t> 91,3% | </a:t>
            </a:r>
            <a:r>
              <a:rPr i="0" sz="1600" b="1">
                <a:solidFill>
                  <a:srgbClr val="2563EB"/>
                </a:solidFill>
                <a:latin typeface="Montserrat"/>
              </a:rPr>
              <a:t>Рост:</a:t>
            </a:r>
            <a:r>
              <a:rPr i="0" sz="1600" b="0">
                <a:solidFill>
                  <a:srgbClr val="2563EB"/>
                </a:solidFill>
                <a:latin typeface="Montserrat"/>
              </a:rPr>
              <a:t> +19,3 п.п.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35900" y="4013200"/>
            <a:ext cx="2336800" cy="2171700"/>
          </a:xfrm>
          <a:prstGeom prst="roundRect">
            <a:avLst>
              <a:gd name="adj" fmla="val 4678"/>
            </a:avLst>
          </a:prstGeom>
          <a:solidFill>
            <a:srgbClr val="F5F8FF"/>
          </a:solidFill>
          <a:ln>
            <a:noFill/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89900" y="4216400"/>
            <a:ext cx="952500" cy="304800"/>
          </a:xfrm>
          <a:prstGeom prst="roundRect">
            <a:avLst>
              <a:gd name="adj" fmla="val 16666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2300" y="4267200"/>
            <a:ext cx="6731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Amount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9900" y="4622800"/>
            <a:ext cx="1854200" cy="81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E4CD9"/>
                </a:solidFill>
                <a:latin typeface="Montserrat"/>
              </a:defRPr>
            </a:pPr>
            <a:r>
              <a:rPr i="0" sz="2400" b="1">
                <a:solidFill>
                  <a:srgbClr val="1E4CD9"/>
                </a:solidFill>
                <a:latin typeface="Montserrat"/>
              </a:rPr>
              <a:t>+114%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9900" y="5486400"/>
            <a:ext cx="1854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Amount growth over the period.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77500" y="4013200"/>
            <a:ext cx="2336800" cy="2171700"/>
          </a:xfrm>
          <a:prstGeom prst="roundRect">
            <a:avLst>
              <a:gd name="adj" fmla="val 4678"/>
            </a:avLst>
          </a:prstGeom>
          <a:solidFill>
            <a:srgbClr val="F5F8FF"/>
          </a:solidFill>
          <a:ln>
            <a:noFill/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731500" y="4216400"/>
            <a:ext cx="635000" cy="304800"/>
          </a:xfrm>
          <a:prstGeom prst="roundRect">
            <a:avLst>
              <a:gd name="adj" fmla="val 16666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83900" y="4267200"/>
            <a:ext cx="3556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Unit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31500" y="4622800"/>
            <a:ext cx="1854200" cy="81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E4CD9"/>
                </a:solidFill>
                <a:latin typeface="Montserrat"/>
              </a:defRPr>
            </a:pPr>
            <a:r>
              <a:rPr i="0" sz="2400" b="1">
                <a:solidFill>
                  <a:srgbClr val="1E4CD9"/>
                </a:solidFill>
                <a:latin typeface="Montserrat"/>
              </a:rPr>
              <a:t>+114% 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31500" y="5486400"/>
            <a:ext cx="1854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Unit growth over the period.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106400" y="4013200"/>
            <a:ext cx="2336800" cy="2171700"/>
          </a:xfrm>
          <a:prstGeom prst="roundRect">
            <a:avLst>
              <a:gd name="adj" fmla="val 4678"/>
            </a:avLst>
          </a:prstGeom>
          <a:solidFill>
            <a:srgbClr val="F5F8FF"/>
          </a:solidFill>
          <a:ln>
            <a:noFill/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360400" y="4216400"/>
            <a:ext cx="1219200" cy="304800"/>
          </a:xfrm>
          <a:prstGeom prst="roundRect">
            <a:avLst>
              <a:gd name="adj" fmla="val 16666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512800" y="4267200"/>
            <a:ext cx="939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Description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60400" y="4622800"/>
            <a:ext cx="1854200" cy="81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E4CD9"/>
                </a:solidFill>
                <a:latin typeface="Montserrat"/>
              </a:defRPr>
            </a:pPr>
            <a:r>
              <a:rPr i="0" sz="2400" b="1">
                <a:solidFill>
                  <a:srgbClr val="1E4CD9"/>
                </a:solidFill>
                <a:latin typeface="Montserrat"/>
              </a:rPr>
              <a:t>+114% growth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60400" y="5486400"/>
            <a:ext cx="1854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Description growth over the period.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7239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85900" y="4064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25 февраля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146300"/>
            <a:ext cx="6019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6000" b="1">
                <a:solidFill>
                  <a:srgbClr val="2563EB"/>
                </a:solidFill>
                <a:latin typeface="Montserrat"/>
              </a:defRPr>
            </a:pPr>
            <a:r>
              <a:rPr i="0" sz="6000" b="1">
                <a:solidFill>
                  <a:srgbClr val="2563EB"/>
                </a:solidFill>
                <a:latin typeface="Montserrat"/>
              </a:rPr>
              <a:t>Ресурсы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4457700"/>
            <a:ext cx="6019800" cy="111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3000"/>
              </a:lnSpc>
              <a:defRPr i="0" sz="1800" b="0">
                <a:solidFill>
                  <a:srgbClr val="2563EB"/>
                </a:solidFill>
                <a:latin typeface="Montserrat"/>
              </a:defRPr>
            </a:pPr>
            <a:r>
              <a:rPr i="0" sz="1800" b="1">
                <a:solidFill>
                  <a:srgbClr val="2563EB"/>
                </a:solidFill>
                <a:latin typeface="Montserrat"/>
              </a:rPr>
              <a:t>Команда проекта</a:t>
            </a:r>
            <a:r>
              <a:rPr i="0" sz="1800" b="0">
                <a:solidFill>
                  <a:srgbClr val="2563EB"/>
                </a:solidFill>
                <a:latin typeface="Montserrat"/>
              </a:rPr>
              <a:t> включает </a:t>
            </a:r>
            <a:r>
              <a:rPr i="0" sz="1800" b="1">
                <a:solidFill>
                  <a:srgbClr val="2563EB"/>
                </a:solidFill>
                <a:latin typeface="Montserrat"/>
              </a:rPr>
              <a:t>84 специалиста</a:t>
            </a:r>
            <a:r>
              <a:rPr i="0" sz="1800" b="0">
                <a:solidFill>
                  <a:srgbClr val="2563EB"/>
                </a:solidFill>
                <a:latin typeface="Montserrat"/>
              </a:rPr>
              <a:t> с профильной экспертизой для реализации всех этапов работ.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40800" y="1244600"/>
            <a:ext cx="3048000" cy="3251200"/>
          </a:xfrm>
          <a:prstGeom prst="roundRect">
            <a:avLst>
              <a:gd name="adj" fmla="val 25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94800" y="2184400"/>
            <a:ext cx="2565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2000" b="1">
                <a:solidFill>
                  <a:srgbClr val="FFFFFF"/>
                </a:solidFill>
                <a:latin typeface="Montserrat"/>
              </a:defRPr>
            </a:pPr>
            <a:r>
              <a:rPr i="0" sz="2000" b="1">
                <a:solidFill>
                  <a:srgbClr val="FFFFFF"/>
                </a:solidFill>
                <a:latin typeface="Montserrat"/>
              </a:rPr>
              <a:t>Бюджет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94800" y="2692400"/>
            <a:ext cx="2565400" cy="8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3000"/>
              </a:lnSpc>
              <a:defRPr i="0" sz="1400" b="0">
                <a:solidFill>
                  <a:srgbClr val="FFFFFF"/>
                </a:solidFill>
                <a:latin typeface="Montserrat"/>
              </a:defRPr>
            </a:pPr>
            <a:r>
              <a:rPr i="0" sz="1400" b="0">
                <a:solidFill>
                  <a:srgbClr val="FFFFFF"/>
                </a:solidFill>
                <a:latin typeface="Montserrat"/>
              </a:rPr>
              <a:t>1,86 млрд руб. — общий объём финансирования проекта</a:t>
            </a:r>
          </a:p>
        </p:txBody>
      </p:sp>
      <p:pic>
        <p:nvPicPr>
          <p:cNvPr id="9" name="Picture 8" descr="d768f200-b535-4f3c-9deb-776ebee3c4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0" y="4495800"/>
            <a:ext cx="3048000" cy="2590800"/>
          </a:xfrm>
          <a:prstGeom prst="rect">
            <a:avLst/>
          </a:prstGeom>
        </p:spPr>
      </p:pic>
      <p:pic>
        <p:nvPicPr>
          <p:cNvPr id="10" name="Picture 9" descr="d4a8270c-7dea-434e-8e57-fd4153c04e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5200" y="1244600"/>
            <a:ext cx="3048000" cy="2590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2395200" y="3835400"/>
            <a:ext cx="3048000" cy="3251200"/>
          </a:xfrm>
          <a:prstGeom prst="roundRect">
            <a:avLst>
              <a:gd name="adj" fmla="val 2500"/>
            </a:avLst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49200" y="4775200"/>
            <a:ext cx="2565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2000" b="1">
                <a:solidFill>
                  <a:srgbClr val="2563EB"/>
                </a:solidFill>
                <a:latin typeface="Montserrat"/>
              </a:defRPr>
            </a:pPr>
            <a:r>
              <a:rPr i="0" sz="2000" b="1">
                <a:solidFill>
                  <a:srgbClr val="2563EB"/>
                </a:solidFill>
                <a:latin typeface="Montserrat"/>
              </a:rPr>
              <a:t>Инфраструктура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49200" y="5283200"/>
            <a:ext cx="2565400" cy="8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3000"/>
              </a:lnSpc>
              <a:defRPr i="0" sz="1400" b="0">
                <a:solidFill>
                  <a:srgbClr val="2563EB"/>
                </a:solidFill>
                <a:latin typeface="Montserrat"/>
              </a:defRPr>
            </a:pPr>
            <a:r>
              <a:rPr i="0" sz="1400" b="0">
                <a:solidFill>
                  <a:srgbClr val="2563EB"/>
                </a:solidFill>
                <a:latin typeface="Montserrat"/>
              </a:rPr>
              <a:t>720 млн руб. (38,7%) — ключевая статья расходов на развитие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