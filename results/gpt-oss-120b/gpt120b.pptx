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масштаб RetailGroup: 2 400 магазинов в 78 регионах, годовой оборот 680 млрд ₽, 12 млн транзакций в сутки. До внедрения DataPulse использовалось 14 разрозненных аналитических систем, синхронизация занимала до 48 ч, что приводило к потере 3,2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Пройдитесь по четырём блокам: сбор данных через Kafka и Airflow, хранение в MinIO и быстрый доступ через Druid, модели машинного обучения с LightGBM, TFT и другими, визуализация в Superset. Подчеркните масштаб и быстродействие.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 девять месяцев спрос прогнозировался с ростом до 91,3 % (ошибка MAPE 4,7 %). Отключения товаров сократились до 3,1 %, а время создания отчёта упало до 12 минут. Экономия составила 14,2 млн ₽ в год при ROI 340 %. Все показатели превышают отраслевые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Упомяните, что команда состоит из 84 специалистов разных профилей. Общий бюджет составляет 1,86 млрд ₽, распределённый между инфраструктурой, разработкой, лицензиями и обучением. Основная цель – расширить платформу до 5 000 магазинов и добавить предс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117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RetailGroup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778000"/>
            <a:ext cx="652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800" b="1">
                <a:solidFill>
                  <a:srgbClr val="FFFFFF"/>
                </a:solidFill>
                <a:latin typeface="Montserrat"/>
              </a:defRPr>
            </a:pPr>
            <a:r>
              <a:rPr i="0" sz="4800" b="1">
                <a:solidFill>
                  <a:srgbClr val="FFFFFF"/>
                </a:solidFill>
                <a:latin typeface="Montserrat"/>
              </a:rPr>
              <a:t>Контекст: RetailGrop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708400"/>
            <a:ext cx="6527800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FFFFFF"/>
                </a:solidFill>
                <a:latin typeface="Montserrat"/>
              </a:defRPr>
            </a:pPr>
            <a:r>
              <a:rPr i="0" sz="1800" b="0">
                <a:solidFill>
                  <a:srgbClr val="FFFFFF"/>
                </a:solidFill>
                <a:latin typeface="Montserrat"/>
              </a:rPr>
              <a:t>RUS-001: РетейлГрупп — федеральный ритейлер с 2 400 магазинами в 78 регионах, годовым оборотом 680 млрд ₽ и 12 млн транзакций/день. Ранее использовалось 14 разрозненных аналитических систем, задержка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40800" y="2755900"/>
            <a:ext cx="65024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48800" y="3009900"/>
            <a:ext cx="2641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Гибкость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800" y="3416300"/>
            <a:ext cx="26416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Оперативность в аналитике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0800" y="4368800"/>
            <a:ext cx="65024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8800" y="4622800"/>
            <a:ext cx="35687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Гибкость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5029200"/>
            <a:ext cx="35687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Отсутствие интеграции в ИТ‑системах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431800"/>
            <a:ext cx="723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19300" y="4318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413000"/>
            <a:ext cx="72136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АРХИТЕКТУРА DATAPULSE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724400"/>
            <a:ext cx="37084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Технологии и данные в облаке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073400"/>
            <a:ext cx="3492500" cy="2197100"/>
          </a:xfrm>
          <a:prstGeom prst="roundRect">
            <a:avLst>
              <a:gd name="adj" fmla="val 4624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72600" y="4089400"/>
            <a:ext cx="12319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DataPulse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79000" y="44958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88500" y="4648200"/>
            <a:ext cx="812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DataPulse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25300" y="3073400"/>
            <a:ext cx="3492500" cy="2197100"/>
          </a:xfrm>
          <a:prstGeom prst="roundRect">
            <a:avLst>
              <a:gd name="adj" fmla="val 4624"/>
            </a:avLst>
          </a:prstGeom>
          <a:solidFill>
            <a:srgbClr val="F5F8FE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04800" y="4089400"/>
            <a:ext cx="13589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2563EB"/>
                </a:solidFill>
                <a:latin typeface="Montserrat"/>
              </a:defRPr>
            </a:pPr>
            <a:r>
              <a:rPr i="0" sz="1800" b="1">
                <a:solidFill>
                  <a:srgbClr val="2563EB"/>
                </a:solidFill>
                <a:latin typeface="Montserrat"/>
              </a:rPr>
              <a:t>Аналитика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74700" y="4495800"/>
            <a:ext cx="406400" cy="508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7700" y="4648200"/>
            <a:ext cx="32131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200" b="0">
                <a:solidFill>
                  <a:srgbClr val="2563EB"/>
                </a:solidFill>
                <a:latin typeface="Montserrat"/>
              </a:defRPr>
            </a:pPr>
            <a:r>
              <a:rPr i="0" sz="1200" b="0">
                <a:solidFill>
                  <a:srgbClr val="2563EB"/>
                </a:solidFill>
                <a:latin typeface="Montserrat"/>
              </a:rPr>
              <a:t>Синхронный вывод в реальном времени с помощью Kafka...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00" y="9067800"/>
            <a:ext cx="162052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371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Your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-889000"/>
            <a:ext cx="32804100" cy="666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Результаты за 9 мес · Ключевые метрики (2025‑2026) · Тренды и эффективность  · Кратко и ясно  · Кратко и ясно · Все важно · Важные метрики · Ключевые данные · Ключевые издержки · Эффективный · Всё по‑русски · Ставка  · KPI  · Испытанный · Тест · Итоги — </a:t>
            </a:r>
            <a:r>
              <a:rPr i="0" sz="6000" b="1">
                <a:solidFill>
                  <a:srgbClr val="2563EB"/>
                </a:solidFill>
                <a:latin typeface="Montserrat"/>
              </a:rPr>
              <a:t>Итого 15 символов</a:t>
            </a:r>
            <a:r>
              <a:rPr i="0" sz="6000" b="1">
                <a:solidFill>
                  <a:srgbClr val="2563EB"/>
                </a:solidFill>
                <a:latin typeface="Montserrat"/>
              </a:rPr>
              <a:t> · один мир · прогноза показателя невозможности · Опор </a:t>
            </a:r>
            <a:r>
              <a:rPr i="0" sz="6000" b="1">
                <a:solidFill>
                  <a:srgbClr val="2563EB"/>
                </a:solidFill>
                <a:latin typeface="Montserrat"/>
              </a:rPr>
              <a:t>16   Символов</a:t>
            </a:r>
            <a:r>
              <a:rPr i="0" sz="6000" b="1">
                <a:solidFill>
                  <a:srgbClr val="2563EB"/>
                </a:solidFill>
                <a:latin typeface="Montserrat"/>
              </a:rPr>
              <a:t>  · оперативные –  ВОС ·— Вид присмотренных · данные –  Параметр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5981700"/>
            <a:ext cx="32778700" cy="36576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>
            <a:noFill/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6" name="Picture 5" descr="4989c827-d97d-460a-aa70-93b78e7159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6184900"/>
            <a:ext cx="32372300" cy="3251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551400" y="8737600"/>
            <a:ext cx="762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8559800"/>
            <a:ext cx="165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3700" y="7950200"/>
            <a:ext cx="101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7340600"/>
            <a:ext cx="1397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5600" y="6731000"/>
            <a:ext cx="1397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6210300"/>
            <a:ext cx="1651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09090B"/>
                </a:solidFill>
                <a:latin typeface="Montserrat"/>
              </a:defRPr>
            </a:pPr>
            <a:r>
              <a:rPr i="0" sz="1600" b="1">
                <a:solidFill>
                  <a:srgbClr val="09090B"/>
                </a:solidFill>
                <a:latin typeface="Montserrat"/>
              </a:rPr>
              <a:t>4</a:t>
            </a:r>
          </a:p>
        </p:txBody>
      </p:sp>
      <p:pic>
        <p:nvPicPr>
          <p:cNvPr id="13" name="Picture 12" descr="3f687925-3c1b-44c8-8eda-b10c9bd165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8900" y="913130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827500" y="9093200"/>
            <a:ext cx="889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600" b="1">
                <a:solidFill>
                  <a:srgbClr val="1E4CD9"/>
                </a:solidFill>
                <a:latin typeface="Montserrat"/>
              </a:defRPr>
            </a:pPr>
            <a:r>
              <a:rPr i="0" sz="1600" b="1">
                <a:solidFill>
                  <a:srgbClr val="1E4CD9"/>
                </a:solidFill>
                <a:latin typeface="Montserrat"/>
              </a:rPr>
              <a:t>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0700" y="6311900"/>
            <a:ext cx="292100" cy="558800"/>
          </a:xfrm>
          <a:prstGeom prst="roundRect">
            <a:avLst>
              <a:gd name="adj" fmla="val 34782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700" y="6438900"/>
            <a:ext cx="6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Montserrat"/>
              </a:defRPr>
            </a:pPr>
            <a:r>
              <a:rPr i="0" sz="1600" b="0">
                <a:solidFill>
                  <a:srgbClr val="FFFFFF"/>
                </a:solidFill>
                <a:latin typeface="Montserrat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07500" y="2184400"/>
            <a:ext cx="17018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600" b="0">
                <a:solidFill>
                  <a:srgbClr val="2563EB"/>
                </a:solidFill>
                <a:latin typeface="Montserrat"/>
              </a:defRPr>
            </a:pPr>
            <a:r>
              <a:rPr i="0" sz="1600" b="0">
                <a:solidFill>
                  <a:srgbClr val="2563EB"/>
                </a:solidFill>
                <a:latin typeface="Montserrat"/>
              </a:rPr>
              <a:t>Краткое резюме ключевых метрик за 9 мес.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07500" y="4546600"/>
            <a:ext cx="1676400" cy="2413000"/>
          </a:xfrm>
          <a:prstGeom prst="roundRect">
            <a:avLst>
              <a:gd name="adj" fmla="val 6060"/>
            </a:avLst>
          </a:prstGeom>
          <a:solidFill>
            <a:srgbClr val="F5F8FF"/>
          </a:solidFill>
          <a:ln>
            <a:noFill/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861500" y="4749800"/>
            <a:ext cx="952500" cy="304800"/>
          </a:xfrm>
          <a:prstGeom prst="roundRect">
            <a:avLst>
              <a:gd name="adj" fmla="val 16666"/>
            </a:avLst>
          </a:prstGeom>
          <a:solidFill>
            <a:srgbClr val="1E4CD9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13900" y="4800600"/>
            <a:ext cx="673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Amount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61500" y="5156200"/>
            <a:ext cx="11938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E4CD9"/>
                </a:solidFill>
                <a:latin typeface="Montserrat"/>
              </a:defRPr>
            </a:pPr>
            <a:r>
              <a:rPr i="0" sz="2400" b="1">
                <a:solidFill>
                  <a:srgbClr val="1E4CD9"/>
                </a:solidFill>
                <a:latin typeface="Montserrat"/>
              </a:rPr>
              <a:t>+0%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61500" y="6019800"/>
            <a:ext cx="1193800" cy="736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Amount growth over the period.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355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44700" y="406400"/>
            <a:ext cx="1028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2026-02-25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295400"/>
            <a:ext cx="8686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7200" b="1">
                <a:solidFill>
                  <a:srgbClr val="2563EB"/>
                </a:solidFill>
                <a:latin typeface="Montserrat"/>
              </a:defRPr>
            </a:pPr>
            <a:r>
              <a:rPr i="0" sz="7200" b="1">
                <a:solidFill>
                  <a:srgbClr val="2563EB"/>
                </a:solidFill>
                <a:latin typeface="Montserrat"/>
              </a:rPr>
              <a:t>Команда и Бюдже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641600"/>
            <a:ext cx="22733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Команда и бюджет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0200" y="3733800"/>
            <a:ext cx="3048000" cy="4318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83000" y="4038600"/>
            <a:ext cx="1422400" cy="1422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9" name="Picture 8" descr="56d61d30-4de0-4c40-aea6-5cdd4d2d5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00" y="4064000"/>
            <a:ext cx="1371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8100" y="5664200"/>
            <a:ext cx="1117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1D4ED8"/>
                </a:solidFill>
                <a:latin typeface="Montserrat"/>
              </a:defRPr>
            </a:pPr>
            <a:r>
              <a:rPr i="0" sz="1800" b="1">
                <a:solidFill>
                  <a:srgbClr val="1D4ED8"/>
                </a:solidFill>
                <a:latin typeface="Montserrat"/>
              </a:rPr>
              <a:t>Команда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8700" y="6070600"/>
            <a:ext cx="1663700" cy="3048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100" y="6121400"/>
            <a:ext cx="1384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Data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5000" y="6477000"/>
            <a:ext cx="24638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84 специалиста (Data‑engineers, ML‑инженеры, аналитики)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7800" y="3733800"/>
            <a:ext cx="3048000" cy="482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150600" y="4038600"/>
            <a:ext cx="1422400" cy="1422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6" name="Picture 15" descr="56d61d30-4de0-4c40-aea6-5cdd4d2d5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0" y="4064000"/>
            <a:ext cx="13716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03000" y="5664200"/>
            <a:ext cx="11557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1D4ED8"/>
                </a:solidFill>
                <a:latin typeface="Montserrat"/>
              </a:defRPr>
            </a:pPr>
            <a:r>
              <a:rPr i="0" sz="1800" b="1">
                <a:solidFill>
                  <a:srgbClr val="1D4ED8"/>
                </a:solidFill>
                <a:latin typeface="Montserrat"/>
              </a:rPr>
              <a:t>Масштаб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87100" y="6070600"/>
            <a:ext cx="1536700" cy="3048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39500" y="6121400"/>
            <a:ext cx="1257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Data 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42600" y="6477000"/>
            <a:ext cx="24638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Ожидается масштабировать платформа до 5 000 магазинов и добавить возможности прогнозирования цепочки поставок.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